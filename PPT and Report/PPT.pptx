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78" r:id="rId2"/>
    <p:sldId id="279" r:id="rId3"/>
    <p:sldId id="257" r:id="rId4"/>
    <p:sldId id="268" r:id="rId5"/>
    <p:sldId id="269" r:id="rId6"/>
    <p:sldId id="270" r:id="rId7"/>
    <p:sldId id="271" r:id="rId8"/>
    <p:sldId id="272" r:id="rId9"/>
    <p:sldId id="273" r:id="rId10"/>
    <p:sldId id="276" r:id="rId11"/>
    <p:sldId id="292" r:id="rId12"/>
    <p:sldId id="304" r:id="rId13"/>
    <p:sldId id="289" r:id="rId14"/>
    <p:sldId id="280" r:id="rId15"/>
    <p:sldId id="290" r:id="rId16"/>
    <p:sldId id="294" r:id="rId17"/>
    <p:sldId id="295" r:id="rId18"/>
    <p:sldId id="296" r:id="rId19"/>
    <p:sldId id="297" r:id="rId20"/>
    <p:sldId id="307" r:id="rId21"/>
    <p:sldId id="325" r:id="rId22"/>
    <p:sldId id="286" r:id="rId23"/>
    <p:sldId id="314" r:id="rId24"/>
    <p:sldId id="315" r:id="rId25"/>
    <p:sldId id="316" r:id="rId26"/>
    <p:sldId id="317" r:id="rId27"/>
    <p:sldId id="318" r:id="rId28"/>
    <p:sldId id="326" r:id="rId29"/>
    <p:sldId id="328" r:id="rId30"/>
    <p:sldId id="329" r:id="rId31"/>
    <p:sldId id="277" r:id="rId32"/>
    <p:sldId id="293" r:id="rId33"/>
    <p:sldId id="291" r:id="rId34"/>
    <p:sldId id="287" r:id="rId35"/>
    <p:sldId id="288" r:id="rId36"/>
    <p:sldId id="262" r:id="rId37"/>
    <p:sldId id="327" r:id="rId38"/>
    <p:sldId id="28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1" autoAdjust="0"/>
    <p:restoredTop sz="94660"/>
  </p:normalViewPr>
  <p:slideViewPr>
    <p:cSldViewPr snapToGrid="0" showGuides="1">
      <p:cViewPr varScale="1">
        <p:scale>
          <a:sx n="78" d="100"/>
          <a:sy n="78" d="100"/>
        </p:scale>
        <p:origin x="936"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E32B9-29AC-4869-A210-C1CBE9344AA1}" type="datetimeFigureOut">
              <a:rPr lang="en-IN" smtClean="0"/>
              <a:t>01-02-2026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6975A-FECC-4306-A3D2-3592687DB35F}" type="slidenum">
              <a:rPr lang="en-IN" smtClean="0"/>
              <a:t>‹#›</a:t>
            </a:fld>
            <a:endParaRPr lang="en-IN"/>
          </a:p>
        </p:txBody>
      </p:sp>
    </p:spTree>
    <p:extLst>
      <p:ext uri="{BB962C8B-B14F-4D97-AF65-F5344CB8AC3E}">
        <p14:creationId xmlns:p14="http://schemas.microsoft.com/office/powerpoint/2010/main" val="279666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1656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EA7C8-E500-26DC-317D-423DEDC927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8A23F6-75AC-C5E2-10AE-5E0329241E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C1EFBF-D147-5E9C-B77F-221BFBCA5C9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C6564A0-7391-81D9-5829-FB8A8AB34664}"/>
              </a:ext>
            </a:extLst>
          </p:cNvPr>
          <p:cNvSpPr>
            <a:spLocks noGrp="1"/>
          </p:cNvSpPr>
          <p:nvPr>
            <p:ph type="ftr" sz="quarter" idx="11"/>
          </p:nvPr>
        </p:nvSpPr>
        <p:spPr/>
        <p:txBody>
          <a:body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1446872E-9EA4-0267-B9F8-9ADA3C2D81D5}"/>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27586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B228-AEAF-215C-BEAD-32B89BC1EA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54F7E4-4266-1F2D-04C5-CDBEA15050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F5CC3-3396-6D4D-E568-73233DFB2EC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FB20346-DF53-1EE6-F671-81E5FD7F3AD7}"/>
              </a:ext>
            </a:extLst>
          </p:cNvPr>
          <p:cNvSpPr>
            <a:spLocks noGrp="1"/>
          </p:cNvSpPr>
          <p:nvPr>
            <p:ph type="ftr" sz="quarter" idx="11"/>
          </p:nvPr>
        </p:nvSpPr>
        <p:spPr/>
        <p:txBody>
          <a:body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6962B714-423F-8E39-BE73-9DA4A5AF0631}"/>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2658656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1EB8-A4BD-DC0C-204E-B155D5842B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324D65-C7DA-01B6-B16C-5A4FD609EB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794381-011F-DABD-EBC8-E2FBA8C0B27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92AA207-12A1-DD63-5B92-036D47046CB5}"/>
              </a:ext>
            </a:extLst>
          </p:cNvPr>
          <p:cNvSpPr>
            <a:spLocks noGrp="1"/>
          </p:cNvSpPr>
          <p:nvPr>
            <p:ph type="ftr" sz="quarter" idx="11"/>
          </p:nvPr>
        </p:nvSpPr>
        <p:spPr/>
        <p:txBody>
          <a:body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2A59CB6B-A48E-D698-0B28-A553A06BF70D}"/>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3406455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6A44F-160D-9FF1-2D18-BFD875C7F3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43C581-D044-3800-4D52-9054C8E7B2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03745A-62E8-4853-4FE2-3CAE0E0245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0E4F80-CF39-2F5B-7656-E32E3B21B78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DF27BF90-1175-E32E-B65D-8C179B2BAFB1}"/>
              </a:ext>
            </a:extLst>
          </p:cNvPr>
          <p:cNvSpPr>
            <a:spLocks noGrp="1"/>
          </p:cNvSpPr>
          <p:nvPr>
            <p:ph type="ftr" sz="quarter" idx="11"/>
          </p:nvPr>
        </p:nvSpPr>
        <p:spPr/>
        <p:txBody>
          <a:bodyPr/>
          <a:lstStyle/>
          <a:p>
            <a:r>
              <a:rPr lang="en-US"/>
              <a:t>INFANT CRY CLASSIFICATION FOR HEALTH AND NEED DETECTION</a:t>
            </a:r>
            <a:endParaRPr lang="en-IN"/>
          </a:p>
        </p:txBody>
      </p:sp>
      <p:sp>
        <p:nvSpPr>
          <p:cNvPr id="7" name="Slide Number Placeholder 6">
            <a:extLst>
              <a:ext uri="{FF2B5EF4-FFF2-40B4-BE49-F238E27FC236}">
                <a16:creationId xmlns:a16="http://schemas.microsoft.com/office/drawing/2014/main" id="{F5F8A64D-7D01-6A4A-6EB6-7BEB2E20671F}"/>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2224892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A997F-FD8F-9518-79CB-F0370606D7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4CC446-E8B0-CA61-BBCE-3DC35EE5A5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118C53-0217-420C-34B8-1E64BC0A4A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1CD2BD-6E8B-2C69-F057-4E7D2A2D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38C71B-DE70-CEAB-DD07-5C131DB1E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1356AA-DF10-EBF0-1E28-C650F680498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23B3BF7-5E40-FEA1-3D55-258E6068E243}"/>
              </a:ext>
            </a:extLst>
          </p:cNvPr>
          <p:cNvSpPr>
            <a:spLocks noGrp="1"/>
          </p:cNvSpPr>
          <p:nvPr>
            <p:ph type="ftr" sz="quarter" idx="11"/>
          </p:nvPr>
        </p:nvSpPr>
        <p:spPr/>
        <p:txBody>
          <a:bodyPr/>
          <a:lstStyle/>
          <a:p>
            <a:r>
              <a:rPr lang="en-US"/>
              <a:t>INFANT CRY CLASSIFICATION FOR HEALTH AND NEED DETECTION</a:t>
            </a:r>
            <a:endParaRPr lang="en-IN"/>
          </a:p>
        </p:txBody>
      </p:sp>
      <p:sp>
        <p:nvSpPr>
          <p:cNvPr id="9" name="Slide Number Placeholder 8">
            <a:extLst>
              <a:ext uri="{FF2B5EF4-FFF2-40B4-BE49-F238E27FC236}">
                <a16:creationId xmlns:a16="http://schemas.microsoft.com/office/drawing/2014/main" id="{8EC6482B-1908-B1D0-6DE7-E86704A0623B}"/>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412228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7991-A6B4-AA22-A36F-C06AF8402A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16F0B4-8449-63A4-3283-1BF60A3DF53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1055D5B-862B-24F5-C239-493F309F2EDF}"/>
              </a:ext>
            </a:extLst>
          </p:cNvPr>
          <p:cNvSpPr>
            <a:spLocks noGrp="1"/>
          </p:cNvSpPr>
          <p:nvPr>
            <p:ph type="ftr" sz="quarter" idx="11"/>
          </p:nvPr>
        </p:nvSpPr>
        <p:spPr/>
        <p:txBody>
          <a:bodyPr/>
          <a:lstStyle/>
          <a:p>
            <a:r>
              <a:rPr lang="en-US"/>
              <a:t>INFANT CRY CLASSIFICATION FOR HEALTH AND NEED DETECTION</a:t>
            </a:r>
            <a:endParaRPr lang="en-IN"/>
          </a:p>
        </p:txBody>
      </p:sp>
      <p:sp>
        <p:nvSpPr>
          <p:cNvPr id="5" name="Slide Number Placeholder 4">
            <a:extLst>
              <a:ext uri="{FF2B5EF4-FFF2-40B4-BE49-F238E27FC236}">
                <a16:creationId xmlns:a16="http://schemas.microsoft.com/office/drawing/2014/main" id="{1BACDAC9-5C94-7A58-515F-D15A33734AD9}"/>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3418606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645931-A963-9340-69DD-870206F91CC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5B050951-9E66-61D5-5725-8DAAF50FF8CE}"/>
              </a:ext>
            </a:extLst>
          </p:cNvPr>
          <p:cNvSpPr>
            <a:spLocks noGrp="1"/>
          </p:cNvSpPr>
          <p:nvPr>
            <p:ph type="ftr" sz="quarter" idx="11"/>
          </p:nvPr>
        </p:nvSpPr>
        <p:spPr/>
        <p:txBody>
          <a:bodyPr/>
          <a:lstStyle/>
          <a:p>
            <a:r>
              <a:rPr lang="en-US"/>
              <a:t>INFANT CRY CLASSIFICATION FOR HEALTH AND NEED DETECTION</a:t>
            </a:r>
            <a:endParaRPr lang="en-IN"/>
          </a:p>
        </p:txBody>
      </p:sp>
      <p:sp>
        <p:nvSpPr>
          <p:cNvPr id="4" name="Slide Number Placeholder 3">
            <a:extLst>
              <a:ext uri="{FF2B5EF4-FFF2-40B4-BE49-F238E27FC236}">
                <a16:creationId xmlns:a16="http://schemas.microsoft.com/office/drawing/2014/main" id="{28C57D70-129E-C5DC-983D-313026A0995B}"/>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1477615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4423-5FF2-6749-930E-32754B1DD6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A3ABF5-749E-4045-C0C6-C10290C8F1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A390C-45B3-7D96-B782-D1D50FC55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FAB0D-4B36-3272-75F6-DDB90B5A4F2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D5DABF3-7B1A-C1C1-33B5-58A85BBC38CB}"/>
              </a:ext>
            </a:extLst>
          </p:cNvPr>
          <p:cNvSpPr>
            <a:spLocks noGrp="1"/>
          </p:cNvSpPr>
          <p:nvPr>
            <p:ph type="ftr" sz="quarter" idx="11"/>
          </p:nvPr>
        </p:nvSpPr>
        <p:spPr/>
        <p:txBody>
          <a:bodyPr/>
          <a:lstStyle/>
          <a:p>
            <a:r>
              <a:rPr lang="en-US"/>
              <a:t>INFANT CRY CLASSIFICATION FOR HEALTH AND NEED DETECTION</a:t>
            </a:r>
            <a:endParaRPr lang="en-IN"/>
          </a:p>
        </p:txBody>
      </p:sp>
      <p:sp>
        <p:nvSpPr>
          <p:cNvPr id="7" name="Slide Number Placeholder 6">
            <a:extLst>
              <a:ext uri="{FF2B5EF4-FFF2-40B4-BE49-F238E27FC236}">
                <a16:creationId xmlns:a16="http://schemas.microsoft.com/office/drawing/2014/main" id="{82A89AE2-74B4-D3DE-67C2-929E8F66C9E2}"/>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375922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8CE9-908E-D36E-E7A5-10E0C2E9F7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B742B7-B47B-F8CB-02EB-1400F71C6F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463121-165E-53F6-8BF8-09C4AD22D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05861-8289-A4B0-1B37-FA74A791681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FA0BCEB-CC26-0717-67EE-6804FA84F58C}"/>
              </a:ext>
            </a:extLst>
          </p:cNvPr>
          <p:cNvSpPr>
            <a:spLocks noGrp="1"/>
          </p:cNvSpPr>
          <p:nvPr>
            <p:ph type="ftr" sz="quarter" idx="11"/>
          </p:nvPr>
        </p:nvSpPr>
        <p:spPr/>
        <p:txBody>
          <a:bodyPr/>
          <a:lstStyle/>
          <a:p>
            <a:r>
              <a:rPr lang="en-US"/>
              <a:t>INFANT CRY CLASSIFICATION FOR HEALTH AND NEED DETECTION</a:t>
            </a:r>
            <a:endParaRPr lang="en-IN"/>
          </a:p>
        </p:txBody>
      </p:sp>
      <p:sp>
        <p:nvSpPr>
          <p:cNvPr id="7" name="Slide Number Placeholder 6">
            <a:extLst>
              <a:ext uri="{FF2B5EF4-FFF2-40B4-BE49-F238E27FC236}">
                <a16:creationId xmlns:a16="http://schemas.microsoft.com/office/drawing/2014/main" id="{D9AD95A1-3A49-A92D-2D9C-2249677913C8}"/>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1529278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35DDB-4F40-5257-172F-5BFA941290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F46F-BA10-FC35-0194-ACDD963C51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21D873-5927-1467-F17D-922FE9F0116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0D4F756-65C1-EA69-1084-562912DBFBF0}"/>
              </a:ext>
            </a:extLst>
          </p:cNvPr>
          <p:cNvSpPr>
            <a:spLocks noGrp="1"/>
          </p:cNvSpPr>
          <p:nvPr>
            <p:ph type="ftr" sz="quarter" idx="11"/>
          </p:nvPr>
        </p:nvSpPr>
        <p:spPr/>
        <p:txBody>
          <a:body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79A15952-B6B3-B26F-0C69-9E7AE7ACD91E}"/>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3958539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40D2FE-AB9C-EF17-ECBC-AB3EBEBA0D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3C90C0-1A4C-0152-789E-3D997525D9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ECD855-7048-2D39-2C47-7B02B7D0A5E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231A060-7C17-D80A-C648-DFFB9BE7FF20}"/>
              </a:ext>
            </a:extLst>
          </p:cNvPr>
          <p:cNvSpPr>
            <a:spLocks noGrp="1"/>
          </p:cNvSpPr>
          <p:nvPr>
            <p:ph type="ftr" sz="quarter" idx="11"/>
          </p:nvPr>
        </p:nvSpPr>
        <p:spPr/>
        <p:txBody>
          <a:body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2F7D391E-A8EA-1FD6-F929-0E6F617059B7}"/>
              </a:ext>
            </a:extLst>
          </p:cNvPr>
          <p:cNvSpPr>
            <a:spLocks noGrp="1"/>
          </p:cNvSpPr>
          <p:nvPr>
            <p:ph type="sldNum" sz="quarter" idx="12"/>
          </p:nvPr>
        </p:nvSpPr>
        <p:spPr/>
        <p:txBody>
          <a:bodyPr/>
          <a:lstStyle/>
          <a:p>
            <a:fld id="{3DEB779A-7110-4DE2-B295-CAC04DA4647A}" type="slidenum">
              <a:rPr lang="en-IN" smtClean="0"/>
              <a:t>‹#›</a:t>
            </a:fld>
            <a:endParaRPr lang="en-IN"/>
          </a:p>
        </p:txBody>
      </p:sp>
    </p:spTree>
    <p:extLst>
      <p:ext uri="{BB962C8B-B14F-4D97-AF65-F5344CB8AC3E}">
        <p14:creationId xmlns:p14="http://schemas.microsoft.com/office/powerpoint/2010/main" val="1896216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92037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847DD2-6160-937E-ECF8-276E6BD151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3F1AA-83B7-46A0-FEB6-1A799C3D65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2B496-8319-A49D-E5A2-931DED97CF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DB1ECADA-D27A-DF95-B2E0-58D42A8DE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INFANT CRY CLASSIFICATION FOR HEALTH AND NEED DETECTION</a:t>
            </a:r>
            <a:endParaRPr lang="en-IN"/>
          </a:p>
        </p:txBody>
      </p:sp>
      <p:sp>
        <p:nvSpPr>
          <p:cNvPr id="6" name="Slide Number Placeholder 5">
            <a:extLst>
              <a:ext uri="{FF2B5EF4-FFF2-40B4-BE49-F238E27FC236}">
                <a16:creationId xmlns:a16="http://schemas.microsoft.com/office/drawing/2014/main" id="{24CACB1B-0116-961E-52E7-0032B9511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B779A-7110-4DE2-B295-CAC04DA4647A}" type="slidenum">
              <a:rPr lang="en-IN" smtClean="0"/>
              <a:t>‹#›</a:t>
            </a:fld>
            <a:endParaRPr lang="en-IN"/>
          </a:p>
        </p:txBody>
      </p:sp>
    </p:spTree>
    <p:extLst>
      <p:ext uri="{BB962C8B-B14F-4D97-AF65-F5344CB8AC3E}">
        <p14:creationId xmlns:p14="http://schemas.microsoft.com/office/powerpoint/2010/main" val="1598740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14875" y="-129266"/>
            <a:ext cx="12111200" cy="2086493"/>
          </a:xfrm>
          <a:prstGeom prst="rect">
            <a:avLst/>
          </a:prstGeom>
          <a:noFill/>
          <a:ln>
            <a:noFill/>
          </a:ln>
        </p:spPr>
        <p:txBody>
          <a:bodyPr spcFirstLastPara="1" wrap="square" lIns="121900" tIns="121900" rIns="121900" bIns="121900" anchor="t" anchorCtr="0">
            <a:spAutoFit/>
          </a:bodyPr>
          <a:lstStyle/>
          <a:p>
            <a:pPr algn="ctr">
              <a:lnSpc>
                <a:spcPct val="115000"/>
              </a:lnSpc>
            </a:pPr>
            <a:r>
              <a:rPr lang="en" sz="2400" b="1" dirty="0">
                <a:solidFill>
                  <a:srgbClr val="1155CC"/>
                </a:solidFill>
                <a:latin typeface="Times New Roman"/>
                <a:ea typeface="Times New Roman"/>
                <a:cs typeface="Times New Roman"/>
                <a:sym typeface="Times New Roman"/>
              </a:rPr>
              <a:t>SRM VALLIAMMAI ENGINEERING COLLEGE</a:t>
            </a:r>
            <a:endParaRPr sz="2400" b="1" dirty="0">
              <a:solidFill>
                <a:srgbClr val="1155CC"/>
              </a:solidFill>
              <a:latin typeface="Times New Roman"/>
              <a:ea typeface="Times New Roman"/>
              <a:cs typeface="Times New Roman"/>
              <a:sym typeface="Times New Roman"/>
            </a:endParaRPr>
          </a:p>
          <a:p>
            <a:pPr algn="ctr">
              <a:lnSpc>
                <a:spcPct val="115000"/>
              </a:lnSpc>
            </a:pPr>
            <a:r>
              <a:rPr lang="en" sz="2133" b="1" dirty="0">
                <a:solidFill>
                  <a:srgbClr val="990000"/>
                </a:solidFill>
                <a:latin typeface="Times New Roman"/>
                <a:ea typeface="Times New Roman"/>
                <a:cs typeface="Times New Roman"/>
                <a:sym typeface="Times New Roman"/>
              </a:rPr>
              <a:t>(An Autonomous Institution)</a:t>
            </a:r>
            <a:endParaRPr sz="2133" b="1" dirty="0">
              <a:solidFill>
                <a:srgbClr val="990000"/>
              </a:solidFill>
              <a:latin typeface="Times New Roman"/>
              <a:ea typeface="Times New Roman"/>
              <a:cs typeface="Times New Roman"/>
              <a:sym typeface="Times New Roman"/>
            </a:endParaRPr>
          </a:p>
          <a:p>
            <a:pPr algn="ctr">
              <a:lnSpc>
                <a:spcPct val="115000"/>
              </a:lnSpc>
            </a:pPr>
            <a:r>
              <a:rPr lang="en" sz="1733" b="1" dirty="0">
                <a:solidFill>
                  <a:schemeClr val="dk1"/>
                </a:solidFill>
                <a:latin typeface="Times New Roman"/>
                <a:ea typeface="Times New Roman"/>
                <a:cs typeface="Times New Roman"/>
                <a:sym typeface="Times New Roman"/>
              </a:rPr>
              <a:t>SRM Nagar, Kattankulathur – 603 203</a:t>
            </a:r>
            <a:endParaRPr sz="1733" b="1" dirty="0">
              <a:solidFill>
                <a:schemeClr val="dk1"/>
              </a:solidFill>
              <a:latin typeface="Times New Roman"/>
              <a:ea typeface="Times New Roman"/>
              <a:cs typeface="Times New Roman"/>
              <a:sym typeface="Times New Roman"/>
            </a:endParaRPr>
          </a:p>
          <a:p>
            <a:pPr algn="ctr">
              <a:lnSpc>
                <a:spcPct val="115000"/>
              </a:lnSpc>
            </a:pPr>
            <a:endParaRPr sz="2133" dirty="0">
              <a:solidFill>
                <a:schemeClr val="dk1"/>
              </a:solidFill>
              <a:latin typeface="Times New Roman"/>
              <a:ea typeface="Times New Roman"/>
              <a:cs typeface="Times New Roman"/>
              <a:sym typeface="Times New Roman"/>
            </a:endParaRPr>
          </a:p>
          <a:p>
            <a:pPr algn="ctr">
              <a:lnSpc>
                <a:spcPct val="115000"/>
              </a:lnSpc>
            </a:pPr>
            <a:r>
              <a:rPr lang="en" sz="2000" b="1" dirty="0">
                <a:solidFill>
                  <a:schemeClr val="dk1"/>
                </a:solidFill>
                <a:latin typeface="Times New Roman"/>
                <a:ea typeface="Times New Roman"/>
                <a:cs typeface="Times New Roman"/>
                <a:sym typeface="Times New Roman"/>
              </a:rPr>
              <a:t>DEPARTMENT OF COMPUTER SCIENCE AND ENGINEERING</a:t>
            </a:r>
            <a:endParaRPr sz="2400" dirty="0"/>
          </a:p>
        </p:txBody>
      </p:sp>
      <p:sp>
        <p:nvSpPr>
          <p:cNvPr id="55" name="Google Shape;55;p13"/>
          <p:cNvSpPr txBox="1"/>
          <p:nvPr/>
        </p:nvSpPr>
        <p:spPr>
          <a:xfrm>
            <a:off x="0" y="1698953"/>
            <a:ext cx="12192000" cy="1887399"/>
          </a:xfrm>
          <a:prstGeom prst="rect">
            <a:avLst/>
          </a:prstGeom>
          <a:noFill/>
          <a:ln>
            <a:noFill/>
          </a:ln>
        </p:spPr>
        <p:txBody>
          <a:bodyPr spcFirstLastPara="1" wrap="square" lIns="121900" tIns="121900" rIns="121900" bIns="121900" anchor="t" anchorCtr="0">
            <a:spAutoFit/>
          </a:bodyPr>
          <a:lstStyle/>
          <a:p>
            <a:pPr algn="ctr">
              <a:lnSpc>
                <a:spcPct val="150000"/>
              </a:lnSpc>
            </a:pPr>
            <a:r>
              <a:rPr lang="en" sz="2133" b="1" dirty="0">
                <a:solidFill>
                  <a:schemeClr val="dk1"/>
                </a:solidFill>
                <a:latin typeface="Times New Roman"/>
                <a:ea typeface="Times New Roman"/>
                <a:cs typeface="Times New Roman"/>
                <a:sym typeface="Times New Roman"/>
              </a:rPr>
              <a:t>1904715 –PROJECT WORK -PHASE 1</a:t>
            </a:r>
          </a:p>
          <a:p>
            <a:pPr algn="ctr">
              <a:lnSpc>
                <a:spcPct val="150000"/>
              </a:lnSpc>
            </a:pPr>
            <a:r>
              <a:rPr lang="en" sz="2133" b="1" dirty="0">
                <a:solidFill>
                  <a:schemeClr val="dk1"/>
                </a:solidFill>
                <a:latin typeface="Times New Roman"/>
                <a:ea typeface="Times New Roman"/>
                <a:cs typeface="Times New Roman"/>
                <a:sym typeface="Times New Roman"/>
              </a:rPr>
              <a:t>FINAL REVIEW</a:t>
            </a:r>
          </a:p>
          <a:p>
            <a:pPr algn="ctr">
              <a:lnSpc>
                <a:spcPct val="200000"/>
              </a:lnSpc>
            </a:pPr>
            <a:endParaRPr lang="en-US" sz="2133" dirty="0">
              <a:latin typeface="Times New Roman" panose="02020603050405020304" pitchFamily="18" charset="0"/>
              <a:cs typeface="Times New Roman" panose="02020603050405020304" pitchFamily="18" charset="0"/>
            </a:endParaRPr>
          </a:p>
        </p:txBody>
      </p:sp>
      <p:pic>
        <p:nvPicPr>
          <p:cNvPr id="56" name="Google Shape;56;p13"/>
          <p:cNvPicPr preferRelativeResize="0"/>
          <p:nvPr/>
        </p:nvPicPr>
        <p:blipFill>
          <a:blip r:embed="rId3">
            <a:alphaModFix/>
          </a:blip>
          <a:stretch>
            <a:fillRect/>
          </a:stretch>
        </p:blipFill>
        <p:spPr>
          <a:xfrm>
            <a:off x="1108301" y="184434"/>
            <a:ext cx="1004401" cy="1286765"/>
          </a:xfrm>
          <a:prstGeom prst="rect">
            <a:avLst/>
          </a:prstGeom>
          <a:noFill/>
          <a:ln>
            <a:noFill/>
          </a:ln>
        </p:spPr>
      </p:pic>
      <p:pic>
        <p:nvPicPr>
          <p:cNvPr id="57" name="Google Shape;57;p13"/>
          <p:cNvPicPr preferRelativeResize="0"/>
          <p:nvPr/>
        </p:nvPicPr>
        <p:blipFill>
          <a:blip r:embed="rId4">
            <a:alphaModFix/>
          </a:blip>
          <a:stretch>
            <a:fillRect/>
          </a:stretch>
        </p:blipFill>
        <p:spPr>
          <a:xfrm>
            <a:off x="9772901" y="184434"/>
            <a:ext cx="1417143" cy="1286765"/>
          </a:xfrm>
          <a:prstGeom prst="rect">
            <a:avLst/>
          </a:prstGeom>
          <a:noFill/>
          <a:ln>
            <a:noFill/>
          </a:ln>
        </p:spPr>
      </p:pic>
      <p:sp>
        <p:nvSpPr>
          <p:cNvPr id="2" name="Title 1">
            <a:extLst>
              <a:ext uri="{FF2B5EF4-FFF2-40B4-BE49-F238E27FC236}">
                <a16:creationId xmlns:a16="http://schemas.microsoft.com/office/drawing/2014/main" id="{3AD1C2C3-FCFD-7555-5C87-E2538DD4DDBE}"/>
              </a:ext>
            </a:extLst>
          </p:cNvPr>
          <p:cNvSpPr>
            <a:spLocks noGrp="1"/>
          </p:cNvSpPr>
          <p:nvPr>
            <p:ph type="title"/>
          </p:nvPr>
        </p:nvSpPr>
        <p:spPr>
          <a:xfrm>
            <a:off x="773770" y="2659714"/>
            <a:ext cx="10888641" cy="1279407"/>
          </a:xfrm>
        </p:spPr>
        <p:txBody>
          <a:bodyPr>
            <a:noAutofit/>
          </a:bodyPr>
          <a:lstStyle/>
          <a:p>
            <a:pPr algn="ctr" defTabSz="1219170">
              <a:lnSpc>
                <a:spcPct val="150000"/>
              </a:lnSpc>
              <a:defRPr/>
            </a:pPr>
            <a:r>
              <a:rPr lang="en" sz="1867" b="1" kern="0" dirty="0">
                <a:solidFill>
                  <a:srgbClr val="000000"/>
                </a:solidFill>
                <a:latin typeface="Times New Roman"/>
                <a:ea typeface="Times New Roman"/>
                <a:cs typeface="Times New Roman"/>
                <a:sym typeface="Times New Roman"/>
              </a:rPr>
              <a:t>PROJECT TITLE: </a:t>
            </a:r>
            <a:r>
              <a:rPr lang="en-US" sz="2200" dirty="0">
                <a:latin typeface="Times New Roman" panose="02020603050405020304" pitchFamily="18" charset="0"/>
                <a:cs typeface="Times New Roman" panose="02020603050405020304" pitchFamily="18" charset="0"/>
              </a:rPr>
              <a:t>SkillGauge AI: An Intelligent Interview Assessment System with AI-Driven and Fallback Question Generation</a:t>
            </a:r>
            <a:br>
              <a:rPr lang="en-US" sz="2200" dirty="0">
                <a:latin typeface="Times New Roman" panose="02020603050405020304" pitchFamily="18" charset="0"/>
                <a:cs typeface="Times New Roman" panose="02020603050405020304" pitchFamily="18" charset="0"/>
              </a:rPr>
            </a:br>
            <a:br>
              <a:rPr lang="en-IN" dirty="0"/>
            </a:br>
            <a:br>
              <a:rPr lang="en-US" sz="2133" kern="0" dirty="0">
                <a:solidFill>
                  <a:srgbClr val="000000"/>
                </a:solidFill>
                <a:latin typeface="Times New Roman" panose="02020603050405020304" pitchFamily="18" charset="0"/>
                <a:cs typeface="Times New Roman" panose="02020603050405020304" pitchFamily="18" charset="0"/>
                <a:sym typeface="Arial"/>
              </a:rPr>
            </a:br>
            <a:r>
              <a:rPr lang="en-US" sz="2133" kern="0" dirty="0">
                <a:solidFill>
                  <a:srgbClr val="000000"/>
                </a:solidFill>
                <a:latin typeface="Times New Roman" panose="02020603050405020304" pitchFamily="18" charset="0"/>
                <a:cs typeface="Times New Roman" panose="02020603050405020304" pitchFamily="18" charset="0"/>
                <a:sym typeface="Arial"/>
              </a:rPr>
              <a:t>			</a:t>
            </a:r>
            <a:br>
              <a:rPr lang="en-US" sz="2133" kern="0" dirty="0">
                <a:solidFill>
                  <a:srgbClr val="000000"/>
                </a:solidFill>
                <a:latin typeface="Times New Roman" panose="02020603050405020304" pitchFamily="18" charset="0"/>
                <a:cs typeface="Times New Roman" panose="02020603050405020304" pitchFamily="18" charset="0"/>
                <a:sym typeface="Arial"/>
              </a:rPr>
            </a:br>
            <a:br>
              <a:rPr lang="en-US" sz="2133" b="1" kern="0" dirty="0">
                <a:solidFill>
                  <a:srgbClr val="000000"/>
                </a:solidFill>
                <a:latin typeface="Times New Roman" panose="02020603050405020304" pitchFamily="18" charset="0"/>
                <a:cs typeface="Times New Roman" panose="02020603050405020304" pitchFamily="18" charset="0"/>
                <a:sym typeface="Times New Roman"/>
              </a:rPr>
            </a:br>
            <a:endParaRPr lang="en-IN" dirty="0"/>
          </a:p>
        </p:txBody>
      </p:sp>
      <p:sp>
        <p:nvSpPr>
          <p:cNvPr id="3" name="Text Placeholder 2">
            <a:extLst>
              <a:ext uri="{FF2B5EF4-FFF2-40B4-BE49-F238E27FC236}">
                <a16:creationId xmlns:a16="http://schemas.microsoft.com/office/drawing/2014/main" id="{CF447817-EF9D-3464-3DD5-9D69AE29A65C}"/>
              </a:ext>
            </a:extLst>
          </p:cNvPr>
          <p:cNvSpPr>
            <a:spLocks noGrp="1"/>
          </p:cNvSpPr>
          <p:nvPr>
            <p:ph type="body" idx="1"/>
          </p:nvPr>
        </p:nvSpPr>
        <p:spPr>
          <a:xfrm>
            <a:off x="890075" y="3785446"/>
            <a:ext cx="5553125" cy="2153044"/>
          </a:xfrm>
        </p:spPr>
        <p:txBody>
          <a:bodyPr>
            <a:normAutofit/>
          </a:bodyPr>
          <a:lstStyle/>
          <a:p>
            <a:pPr marL="186262" indent="0" algn="just">
              <a:buNone/>
            </a:pPr>
            <a:r>
              <a:rPr lang="en-IN" b="1" dirty="0">
                <a:solidFill>
                  <a:schemeClr val="tx1"/>
                </a:solidFill>
                <a:latin typeface="Times New Roman" panose="02020603050405020304" pitchFamily="18" charset="0"/>
                <a:cs typeface="Times New Roman" panose="02020603050405020304" pitchFamily="18" charset="0"/>
              </a:rPr>
              <a:t>TEAM MEMBERS</a:t>
            </a:r>
          </a:p>
          <a:p>
            <a:pPr marL="186262" indent="0" algn="just">
              <a:buNone/>
            </a:pP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0B93827-EE45-C1A5-DFD3-6EDD40A74414}"/>
              </a:ext>
            </a:extLst>
          </p:cNvPr>
          <p:cNvSpPr>
            <a:spLocks noGrp="1"/>
          </p:cNvSpPr>
          <p:nvPr>
            <p:ph type="body" idx="2"/>
          </p:nvPr>
        </p:nvSpPr>
        <p:spPr>
          <a:xfrm>
            <a:off x="6443200" y="3814364"/>
            <a:ext cx="5748800" cy="2688035"/>
          </a:xfrm>
        </p:spPr>
        <p:txBody>
          <a:bodyPr/>
          <a:lstStyle/>
          <a:p>
            <a:pPr marL="186262" indent="0" algn="just">
              <a:buNone/>
            </a:pPr>
            <a:r>
              <a:rPr lang="en-IN" b="1" dirty="0">
                <a:solidFill>
                  <a:schemeClr val="tx1"/>
                </a:solidFill>
                <a:latin typeface="Times New Roman" panose="02020603050405020304" pitchFamily="18" charset="0"/>
                <a:cs typeface="Times New Roman" panose="02020603050405020304" pitchFamily="18" charset="0"/>
              </a:rPr>
              <a:t>PROJECT GUIDE</a:t>
            </a: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a:p>
            <a:pPr marL="186262" indent="0" algn="just">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A682429-210A-036D-CD31-D402CAFAB5EB}"/>
              </a:ext>
            </a:extLst>
          </p:cNvPr>
          <p:cNvSpPr>
            <a:spLocks noGrp="1"/>
          </p:cNvSpPr>
          <p:nvPr>
            <p:ph type="sldNum" idx="12"/>
          </p:nvPr>
        </p:nvSpPr>
        <p:spPr/>
        <p:txBody>
          <a:bodyPr/>
          <a:lstStyle/>
          <a:p>
            <a:fld id="{00000000-1234-1234-1234-123412341234}" type="slidenum">
              <a:rPr lang="en" smtClean="0"/>
              <a:pPr/>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09B33-BC20-B44D-26E7-F71293134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86078-9B64-FB06-8CBB-D1D3422CC351}"/>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SDG GOALS</a:t>
            </a:r>
          </a:p>
        </p:txBody>
      </p:sp>
      <p:sp>
        <p:nvSpPr>
          <p:cNvPr id="3" name="Content Placeholder 2">
            <a:extLst>
              <a:ext uri="{FF2B5EF4-FFF2-40B4-BE49-F238E27FC236}">
                <a16:creationId xmlns:a16="http://schemas.microsoft.com/office/drawing/2014/main" id="{0DD786AC-4EE2-EF6C-48A6-D6C205565671}"/>
              </a:ext>
            </a:extLst>
          </p:cNvPr>
          <p:cNvSpPr>
            <a:spLocks noGrp="1"/>
          </p:cNvSpPr>
          <p:nvPr>
            <p:ph idx="1"/>
          </p:nvPr>
        </p:nvSpPr>
        <p:spPr>
          <a:xfrm>
            <a:off x="838200" y="1644894"/>
            <a:ext cx="10515600" cy="4620725"/>
          </a:xfrm>
        </p:spPr>
        <p:txBody>
          <a:bodyPr>
            <a:normAutofit fontScale="92500" lnSpcReduction="10000"/>
          </a:bodyPr>
          <a:lstStyle/>
          <a:p>
            <a:r>
              <a:rPr lang="en-US" sz="1800" b="1" dirty="0">
                <a:cs typeface="Times New Roman" panose="02020603050405020304" pitchFamily="18" charset="0"/>
              </a:rPr>
              <a:t>SDG 4 – Quality Education</a:t>
            </a:r>
          </a:p>
          <a:p>
            <a:pPr marL="0" indent="0">
              <a:buNone/>
            </a:pPr>
            <a:r>
              <a:rPr lang="en-US" sz="1800" dirty="0">
                <a:cs typeface="Times New Roman" panose="02020603050405020304" pitchFamily="18" charset="0"/>
              </a:rPr>
              <a:t>    SkillGauge AI contributes to Quality Education by enhancing the way technical skills and interview readiness are assessed. The platform uses AI-driven and curated question generation to evaluate candidates based on their actual skill sets rather than rote learning. By providing instant performance analysis, detailed feedback, and structured assessment reports, SkillGauge AI helps learners identify strengths and areas for improvement, thereby improving the overall effectiveness of skill-based education and interview preparation.</a:t>
            </a:r>
          </a:p>
          <a:p>
            <a:r>
              <a:rPr lang="en-US" sz="1800" b="1" dirty="0">
                <a:cs typeface="Times New Roman" panose="02020603050405020304" pitchFamily="18" charset="0"/>
              </a:rPr>
              <a:t>SDG 8 – Decent Work and Economic Growth</a:t>
            </a:r>
          </a:p>
          <a:p>
            <a:pPr marL="0" indent="0">
              <a:buNone/>
            </a:pPr>
            <a:r>
              <a:rPr lang="en-US" sz="1800" dirty="0">
                <a:cs typeface="Times New Roman" panose="02020603050405020304" pitchFamily="18" charset="0"/>
              </a:rPr>
              <a:t>   SkillGauge AI supports Decent Work and Economic Growth by preparing students and job seekers for employment through objective and skill-focused interview assessments. The system simulates real-world technical interviews and evaluates candidates in a standardized manner, helping them become more job-ready. By improving employability and reducing skill gaps, the platform contributes to a more competent workforce that aligns with industry requirements and supports sustainable economic growth.</a:t>
            </a:r>
          </a:p>
          <a:p>
            <a:r>
              <a:rPr lang="en-US" sz="1800" b="1" dirty="0">
                <a:cs typeface="Times New Roman" panose="02020603050405020304" pitchFamily="18" charset="0"/>
              </a:rPr>
              <a:t>SDG 9 – Industry, Innovation and Infrastructure</a:t>
            </a:r>
          </a:p>
          <a:p>
            <a:pPr marL="0" indent="0">
              <a:buNone/>
            </a:pPr>
            <a:r>
              <a:rPr lang="en-US" sz="1800" dirty="0">
                <a:cs typeface="Times New Roman" panose="02020603050405020304" pitchFamily="18" charset="0"/>
              </a:rPr>
              <a:t>   The project advances Industry, Innovation, and Infrastructure by introducing an intelligent, AI-powered digital platform for interview assessment and evaluation. SkillGauge AI replaces traditional manual interview screening methods with a scalable, automated system that integrates Generative AI, data analytics, and digital reporting. The inclusion of a reliable fallback mechanism ensures system robustness, promoting innovative and resilient digital infrastructure suitable for educational institutions and recruitment environments.</a:t>
            </a:r>
          </a:p>
        </p:txBody>
      </p:sp>
      <p:sp>
        <p:nvSpPr>
          <p:cNvPr id="6" name="Slide Number Placeholder 5">
            <a:extLst>
              <a:ext uri="{FF2B5EF4-FFF2-40B4-BE49-F238E27FC236}">
                <a16:creationId xmlns:a16="http://schemas.microsoft.com/office/drawing/2014/main" id="{111C3573-2FBA-489A-268D-BE53FDDF1FEC}"/>
              </a:ext>
            </a:extLst>
          </p:cNvPr>
          <p:cNvSpPr>
            <a:spLocks noGrp="1"/>
          </p:cNvSpPr>
          <p:nvPr>
            <p:ph type="sldNum" sz="quarter" idx="12"/>
          </p:nvPr>
        </p:nvSpPr>
        <p:spPr/>
        <p:txBody>
          <a:bodyPr/>
          <a:lstStyle/>
          <a:p>
            <a:fld id="{3DEB779A-7110-4DE2-B295-CAC04DA4647A}" type="slidenum">
              <a:rPr lang="en-IN" smtClean="0"/>
              <a:t>2</a:t>
            </a:fld>
            <a:endParaRPr lang="en-IN"/>
          </a:p>
        </p:txBody>
      </p:sp>
    </p:spTree>
    <p:extLst>
      <p:ext uri="{BB962C8B-B14F-4D97-AF65-F5344CB8AC3E}">
        <p14:creationId xmlns:p14="http://schemas.microsoft.com/office/powerpoint/2010/main" val="354717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1F00B-F6C9-CAB7-0CE4-DAE3215E7DC1}"/>
              </a:ext>
            </a:extLst>
          </p:cNvPr>
          <p:cNvSpPr>
            <a:spLocks noGrp="1"/>
          </p:cNvSpPr>
          <p:nvPr>
            <p:ph type="title"/>
          </p:nvPr>
        </p:nvSpPr>
        <p:spPr>
          <a:xfrm>
            <a:off x="838200" y="315964"/>
            <a:ext cx="10515600" cy="1325563"/>
          </a:xfrm>
        </p:spPr>
        <p:txBody>
          <a:bodyPr/>
          <a:lstStyle/>
          <a:p>
            <a:pPr algn="ctr"/>
            <a:r>
              <a:rPr lang="en-IN" u="sng"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78794D99-1B04-0471-15BC-341C6CEBDD6C}"/>
              </a:ext>
            </a:extLst>
          </p:cNvPr>
          <p:cNvSpPr>
            <a:spLocks noGrp="1"/>
          </p:cNvSpPr>
          <p:nvPr>
            <p:ph idx="1"/>
          </p:nvPr>
        </p:nvSpPr>
        <p:spPr>
          <a:xfrm>
            <a:off x="838200" y="1936948"/>
            <a:ext cx="10665543" cy="3510124"/>
          </a:xfrm>
        </p:spPr>
        <p:txBody>
          <a:bodyPr>
            <a:noAutofit/>
          </a:bodyPr>
          <a:lstStyle/>
          <a:p>
            <a:pPr marL="0" indent="0">
              <a:buNone/>
            </a:pPr>
            <a:r>
              <a:rPr lang="en-US" sz="1800" dirty="0"/>
              <a:t>SkillGauge AI is an intelligent interview assessment system designed to automate and standardize technical interview evaluations using a combination of Generative AI and a curated fallback mechanism. The system analyzes candidate skills provided manually or extracted from uploaded resumes and generates domain-specific multiple-choice interview questions using a large language model, ensuring adaptability to diverse technical backgrounds. In scenarios where AI services are unavailable, the platform seamlessly switches to a predefined question bank, guaranteeing reliability and uninterrupted assessment. SkillGauge AI conducts automated evaluation, computes performance scores, generates detailed PDF reports, and delivers results via email, while also maintaining assessment records for administrative analysis through an integrated dashboard. The system also provides visual performance analytics to help candidates understand their strengths and weaknesses clearly. By minimizing manual intervention, the platform improves efficiency for evaluators and recruiters. Its modular and scalable architecture enables easy integration into educational institutions and recruitment workflows. By reducing human bias, improving scalability, and providing consistent and objective feedback, the proposed system enhances interview preparedness and supports skill-based evaluation in modern educational and professional environments.</a:t>
            </a:r>
          </a:p>
        </p:txBody>
      </p:sp>
      <p:sp>
        <p:nvSpPr>
          <p:cNvPr id="5" name="Slide Number Placeholder 4">
            <a:extLst>
              <a:ext uri="{FF2B5EF4-FFF2-40B4-BE49-F238E27FC236}">
                <a16:creationId xmlns:a16="http://schemas.microsoft.com/office/drawing/2014/main" id="{74542220-A829-D98B-9BE3-AFE7DA7832D5}"/>
              </a:ext>
            </a:extLst>
          </p:cNvPr>
          <p:cNvSpPr>
            <a:spLocks noGrp="1"/>
          </p:cNvSpPr>
          <p:nvPr>
            <p:ph type="sldNum" sz="quarter" idx="12"/>
          </p:nvPr>
        </p:nvSpPr>
        <p:spPr/>
        <p:txBody>
          <a:bodyPr/>
          <a:lstStyle/>
          <a:p>
            <a:fld id="{3DEB779A-7110-4DE2-B295-CAC04DA4647A}" type="slidenum">
              <a:rPr lang="en-IN" smtClean="0"/>
              <a:t>3</a:t>
            </a:fld>
            <a:endParaRPr lang="en-IN"/>
          </a:p>
        </p:txBody>
      </p:sp>
    </p:spTree>
    <p:extLst>
      <p:ext uri="{BB962C8B-B14F-4D97-AF65-F5344CB8AC3E}">
        <p14:creationId xmlns:p14="http://schemas.microsoft.com/office/powerpoint/2010/main" val="367239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E044-5E55-5B41-0BC3-5A58B6682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6C059-907D-3D43-5959-F2A2E9E459F2}"/>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BF158D6-3856-B3B6-9697-AD7868E5DF25}"/>
              </a:ext>
            </a:extLst>
          </p:cNvPr>
          <p:cNvSpPr>
            <a:spLocks noGrp="1"/>
          </p:cNvSpPr>
          <p:nvPr>
            <p:ph idx="1"/>
          </p:nvPr>
        </p:nvSpPr>
        <p:spPr>
          <a:xfrm>
            <a:off x="838200" y="1735625"/>
            <a:ext cx="10515600" cy="4620725"/>
          </a:xfrm>
        </p:spPr>
        <p:txBody>
          <a:bodyPr>
            <a:normAutofit lnSpcReduction="10000"/>
          </a:bodyPr>
          <a:lstStyle/>
          <a:p>
            <a:r>
              <a:rPr lang="en-US" sz="1800" dirty="0"/>
              <a:t>Technical interview assessment is an essential process for evaluating the skills, knowledge, and job readiness of students and job seekers.</a:t>
            </a:r>
          </a:p>
          <a:p>
            <a:r>
              <a:rPr lang="en-US" sz="1800" dirty="0"/>
              <a:t>Traditional interview methods depend on manual question preparation and human evaluation, which are often time-consuming, subjective, and difficult to scale.</a:t>
            </a:r>
          </a:p>
          <a:p>
            <a:r>
              <a:rPr lang="en-US" sz="1800" dirty="0"/>
              <a:t>Recent advancements in Generative Artificial Intelligence enable automatic generation of skill-based interview questions and objective assessment of candidate performance.</a:t>
            </a:r>
          </a:p>
          <a:p>
            <a:r>
              <a:rPr lang="en-US" sz="1800" dirty="0"/>
              <a:t>SkillGauge AI leverages Generative AI to create domain-specific multiple-choice interview questions based on candidate skills or resume analysis.</a:t>
            </a:r>
          </a:p>
          <a:p>
            <a:r>
              <a:rPr lang="en-US" sz="1800" dirty="0"/>
              <a:t>The system includes a reliable fallback mechanism using a curated question bank to ensure uninterrupted assessment when AI services are unavailable.</a:t>
            </a:r>
          </a:p>
          <a:p>
            <a:r>
              <a:rPr lang="en-US" sz="1800" dirty="0"/>
              <a:t>SkillGauge AI performs automated evaluation, score calculation, and performance analysis without manual intervention.</a:t>
            </a:r>
          </a:p>
          <a:p>
            <a:r>
              <a:rPr lang="en-US" sz="1800" dirty="0"/>
              <a:t>Detailed PDF reports and automated email notifications improve transparency, documentation, and communication.</a:t>
            </a:r>
          </a:p>
          <a:p>
            <a:r>
              <a:rPr lang="en-US" sz="1800" dirty="0"/>
              <a:t>By standardizing the assessment process, the platform reduces human bias and enhances consistency and efficiency in interview evaluation.</a:t>
            </a:r>
          </a:p>
        </p:txBody>
      </p:sp>
      <p:sp>
        <p:nvSpPr>
          <p:cNvPr id="5" name="Slide Number Placeholder 4">
            <a:extLst>
              <a:ext uri="{FF2B5EF4-FFF2-40B4-BE49-F238E27FC236}">
                <a16:creationId xmlns:a16="http://schemas.microsoft.com/office/drawing/2014/main" id="{CCB439C5-DE19-0CD2-89E5-97A5610D91EA}"/>
              </a:ext>
            </a:extLst>
          </p:cNvPr>
          <p:cNvSpPr>
            <a:spLocks noGrp="1"/>
          </p:cNvSpPr>
          <p:nvPr>
            <p:ph type="sldNum" sz="quarter" idx="12"/>
          </p:nvPr>
        </p:nvSpPr>
        <p:spPr/>
        <p:txBody>
          <a:bodyPr/>
          <a:lstStyle/>
          <a:p>
            <a:fld id="{3DEB779A-7110-4DE2-B295-CAC04DA4647A}" type="slidenum">
              <a:rPr lang="en-IN" smtClean="0"/>
              <a:t>4</a:t>
            </a:fld>
            <a:endParaRPr lang="en-IN"/>
          </a:p>
        </p:txBody>
      </p:sp>
    </p:spTree>
    <p:extLst>
      <p:ext uri="{BB962C8B-B14F-4D97-AF65-F5344CB8AC3E}">
        <p14:creationId xmlns:p14="http://schemas.microsoft.com/office/powerpoint/2010/main" val="299758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6E3F-C24D-E634-A140-154C9383B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4FFC4-30D4-3177-CC6F-BB9946AC15FA}"/>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OBJECTIVE</a:t>
            </a:r>
          </a:p>
        </p:txBody>
      </p:sp>
      <p:sp>
        <p:nvSpPr>
          <p:cNvPr id="5" name="Slide Number Placeholder 4">
            <a:extLst>
              <a:ext uri="{FF2B5EF4-FFF2-40B4-BE49-F238E27FC236}">
                <a16:creationId xmlns:a16="http://schemas.microsoft.com/office/drawing/2014/main" id="{25604587-A69B-439E-8EE5-C458025CBAC4}"/>
              </a:ext>
            </a:extLst>
          </p:cNvPr>
          <p:cNvSpPr>
            <a:spLocks noGrp="1"/>
          </p:cNvSpPr>
          <p:nvPr>
            <p:ph type="sldNum" sz="quarter" idx="12"/>
          </p:nvPr>
        </p:nvSpPr>
        <p:spPr/>
        <p:txBody>
          <a:bodyPr/>
          <a:lstStyle/>
          <a:p>
            <a:fld id="{3DEB779A-7110-4DE2-B295-CAC04DA4647A}" type="slidenum">
              <a:rPr lang="en-IN" smtClean="0"/>
              <a:t>5</a:t>
            </a:fld>
            <a:endParaRPr lang="en-IN"/>
          </a:p>
        </p:txBody>
      </p:sp>
      <p:sp>
        <p:nvSpPr>
          <p:cNvPr id="7" name="Rectangle 2">
            <a:extLst>
              <a:ext uri="{FF2B5EF4-FFF2-40B4-BE49-F238E27FC236}">
                <a16:creationId xmlns:a16="http://schemas.microsoft.com/office/drawing/2014/main" id="{10079C4F-89E7-1C3E-A9FC-50842195A1B6}"/>
              </a:ext>
            </a:extLst>
          </p:cNvPr>
          <p:cNvSpPr>
            <a:spLocks noGrp="1" noChangeArrowheads="1"/>
          </p:cNvSpPr>
          <p:nvPr>
            <p:ph idx="1"/>
          </p:nvPr>
        </p:nvSpPr>
        <p:spPr bwMode="auto">
          <a:xfrm>
            <a:off x="909144" y="1563423"/>
            <a:ext cx="10373712" cy="4230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To design and develop an intelligent interview assessment system for evaluating technical skills in a structured and objective manner.</a:t>
            </a:r>
          </a:p>
          <a:p>
            <a:r>
              <a:rPr lang="en-US" sz="1800" dirty="0"/>
              <a:t>To utilize Generative Artificial Intelligence for automatic generation of domain-specific interview questions based on candidate skills or resume content.</a:t>
            </a:r>
          </a:p>
          <a:p>
            <a:r>
              <a:rPr lang="en-US" sz="1800" dirty="0"/>
              <a:t>To ensure system reliability by incorporating a fallback mechanism using a curated question bank when AI services are unavailable.</a:t>
            </a:r>
          </a:p>
          <a:p>
            <a:r>
              <a:rPr lang="en-US" sz="1800" dirty="0"/>
              <a:t>To automate the evaluation process by calculating scores and analyzing candidate performance without human intervention.</a:t>
            </a:r>
          </a:p>
          <a:p>
            <a:r>
              <a:rPr lang="en-US" sz="1800" dirty="0"/>
              <a:t>To generate detailed assessment reports in PDF format and deliver them automatically via email.</a:t>
            </a:r>
          </a:p>
          <a:p>
            <a:r>
              <a:rPr lang="en-US" sz="1800" dirty="0"/>
              <a:t>To provide visual performance analytics that help candidates understand their strengths and areas for improvement.</a:t>
            </a:r>
          </a:p>
          <a:p>
            <a:r>
              <a:rPr lang="en-US" sz="1800" dirty="0"/>
              <a:t>To maintain assessment records and enable administrative analysis through a secure dashboard.</a:t>
            </a:r>
          </a:p>
          <a:p>
            <a:r>
              <a:rPr lang="en-US" sz="1800" dirty="0"/>
              <a:t>To reduce human bias, manual effort, and time consumption in traditional interview assessment processes.</a:t>
            </a:r>
          </a:p>
        </p:txBody>
      </p:sp>
    </p:spTree>
    <p:extLst>
      <p:ext uri="{BB962C8B-B14F-4D97-AF65-F5344CB8AC3E}">
        <p14:creationId xmlns:p14="http://schemas.microsoft.com/office/powerpoint/2010/main" val="4179079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54672-2462-96CF-72FB-BBF46BDF0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8A44A-0674-0C71-2B33-7ED5001290B1}"/>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F536BD1-A6F8-917F-6A60-5782224AAF13}"/>
              </a:ext>
            </a:extLst>
          </p:cNvPr>
          <p:cNvSpPr>
            <a:spLocks noGrp="1"/>
          </p:cNvSpPr>
          <p:nvPr>
            <p:ph idx="1"/>
          </p:nvPr>
        </p:nvSpPr>
        <p:spPr>
          <a:xfrm>
            <a:off x="838200" y="1872150"/>
            <a:ext cx="10515600" cy="4620725"/>
          </a:xfrm>
        </p:spPr>
        <p:txBody>
          <a:bodyPr>
            <a:normAutofit/>
          </a:bodyPr>
          <a:lstStyle/>
          <a:p>
            <a:r>
              <a:rPr lang="en-US" sz="1800" dirty="0"/>
              <a:t>Traditional technical interview assessments rely heavily on manual question preparation and human evaluation, making the process time-consuming and inefficient.</a:t>
            </a:r>
          </a:p>
          <a:p>
            <a:r>
              <a:rPr lang="en-US" sz="1800" dirty="0"/>
              <a:t>Manual interview evaluation often introduces subjectivity and inconsistency, leading to biased or non-uniform assessment outcomes.</a:t>
            </a:r>
          </a:p>
          <a:p>
            <a:r>
              <a:rPr lang="en-US" sz="1800" dirty="0"/>
              <a:t>Preparing domain-specific interview questions for candidates with diverse skill sets requires significant effort from evaluators and recruiters.</a:t>
            </a:r>
          </a:p>
          <a:p>
            <a:r>
              <a:rPr lang="en-US" sz="1800" dirty="0"/>
              <a:t>Existing assessment methods lack scalability and are not suitable for handling large numbers of candidates simultaneously.</a:t>
            </a:r>
          </a:p>
          <a:p>
            <a:r>
              <a:rPr lang="en-US" sz="1800" dirty="0"/>
              <a:t>Many interview preparation and evaluation systems depend entirely on AI services, which can lead to system failure or interruption when AI services are unavailable.</a:t>
            </a:r>
          </a:p>
          <a:p>
            <a:r>
              <a:rPr lang="en-US" sz="1800" dirty="0"/>
              <a:t>There is a lack of automated systems that provide structured evaluation reports, performance analytics, and reliable documentation for interview assessments.</a:t>
            </a:r>
          </a:p>
          <a:p>
            <a:r>
              <a:rPr lang="en-US" sz="1800" dirty="0"/>
              <a:t>An efficient, unbiased, and reliable interview assessment platform is required to automate question generation, evaluation, reporting, and communication.</a:t>
            </a:r>
          </a:p>
          <a:p>
            <a:endParaRPr lang="en-US" sz="1800" dirty="0"/>
          </a:p>
        </p:txBody>
      </p:sp>
      <p:sp>
        <p:nvSpPr>
          <p:cNvPr id="5" name="Slide Number Placeholder 4">
            <a:extLst>
              <a:ext uri="{FF2B5EF4-FFF2-40B4-BE49-F238E27FC236}">
                <a16:creationId xmlns:a16="http://schemas.microsoft.com/office/drawing/2014/main" id="{770983CD-3E06-2E4B-2561-BC491A12D2B9}"/>
              </a:ext>
            </a:extLst>
          </p:cNvPr>
          <p:cNvSpPr>
            <a:spLocks noGrp="1"/>
          </p:cNvSpPr>
          <p:nvPr>
            <p:ph type="sldNum" sz="quarter" idx="12"/>
          </p:nvPr>
        </p:nvSpPr>
        <p:spPr/>
        <p:txBody>
          <a:bodyPr/>
          <a:lstStyle/>
          <a:p>
            <a:fld id="{3DEB779A-7110-4DE2-B295-CAC04DA4647A}" type="slidenum">
              <a:rPr lang="en-IN" smtClean="0"/>
              <a:t>6</a:t>
            </a:fld>
            <a:endParaRPr lang="en-IN"/>
          </a:p>
        </p:txBody>
      </p:sp>
    </p:spTree>
    <p:extLst>
      <p:ext uri="{BB962C8B-B14F-4D97-AF65-F5344CB8AC3E}">
        <p14:creationId xmlns:p14="http://schemas.microsoft.com/office/powerpoint/2010/main" val="2535365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C873-E689-EF10-74C6-04CA714AF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AA5E1-EC62-8847-8339-49EABC5715A2}"/>
              </a:ext>
            </a:extLst>
          </p:cNvPr>
          <p:cNvSpPr>
            <a:spLocks noGrp="1"/>
          </p:cNvSpPr>
          <p:nvPr>
            <p:ph type="title"/>
          </p:nvPr>
        </p:nvSpPr>
        <p:spPr>
          <a:xfrm>
            <a:off x="838200" y="148815"/>
            <a:ext cx="10515600" cy="1325563"/>
          </a:xfrm>
        </p:spPr>
        <p:txBody>
          <a:bodyPr/>
          <a:lstStyle/>
          <a:p>
            <a:pPr algn="ctr"/>
            <a:r>
              <a:rPr lang="en-IN" u="sng" dirty="0">
                <a:latin typeface="Times New Roman" panose="02020603050405020304" pitchFamily="18" charset="0"/>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C9C29EF4-851B-9866-E473-FF036A945E44}"/>
              </a:ext>
            </a:extLst>
          </p:cNvPr>
          <p:cNvGraphicFramePr>
            <a:graphicFrameLocks noGrp="1"/>
          </p:cNvGraphicFramePr>
          <p:nvPr>
            <p:extLst>
              <p:ext uri="{D42A27DB-BD31-4B8C-83A1-F6EECF244321}">
                <p14:modId xmlns:p14="http://schemas.microsoft.com/office/powerpoint/2010/main" val="815736715"/>
              </p:ext>
            </p:extLst>
          </p:nvPr>
        </p:nvGraphicFramePr>
        <p:xfrm>
          <a:off x="838200" y="1208825"/>
          <a:ext cx="10691875" cy="5500360"/>
        </p:xfrm>
        <a:graphic>
          <a:graphicData uri="http://schemas.openxmlformats.org/drawingml/2006/table">
            <a:tbl>
              <a:tblPr firstRow="1">
                <a:tableStyleId>{3B4B98B0-60AC-42C2-AFA5-B58CD77FA1E5}</a:tableStyleId>
              </a:tblPr>
              <a:tblGrid>
                <a:gridCol w="752153">
                  <a:extLst>
                    <a:ext uri="{9D8B030D-6E8A-4147-A177-3AD203B41FA5}">
                      <a16:colId xmlns:a16="http://schemas.microsoft.com/office/drawing/2014/main" val="580630675"/>
                    </a:ext>
                  </a:extLst>
                </a:gridCol>
                <a:gridCol w="896502">
                  <a:extLst>
                    <a:ext uri="{9D8B030D-6E8A-4147-A177-3AD203B41FA5}">
                      <a16:colId xmlns:a16="http://schemas.microsoft.com/office/drawing/2014/main" val="2482416136"/>
                    </a:ext>
                  </a:extLst>
                </a:gridCol>
                <a:gridCol w="2452309">
                  <a:extLst>
                    <a:ext uri="{9D8B030D-6E8A-4147-A177-3AD203B41FA5}">
                      <a16:colId xmlns:a16="http://schemas.microsoft.com/office/drawing/2014/main" val="1083997327"/>
                    </a:ext>
                  </a:extLst>
                </a:gridCol>
                <a:gridCol w="2416148">
                  <a:extLst>
                    <a:ext uri="{9D8B030D-6E8A-4147-A177-3AD203B41FA5}">
                      <a16:colId xmlns:a16="http://schemas.microsoft.com/office/drawing/2014/main" val="1136025601"/>
                    </a:ext>
                  </a:extLst>
                </a:gridCol>
                <a:gridCol w="1930578">
                  <a:extLst>
                    <a:ext uri="{9D8B030D-6E8A-4147-A177-3AD203B41FA5}">
                      <a16:colId xmlns:a16="http://schemas.microsoft.com/office/drawing/2014/main" val="566135897"/>
                    </a:ext>
                  </a:extLst>
                </a:gridCol>
                <a:gridCol w="2244185">
                  <a:extLst>
                    <a:ext uri="{9D8B030D-6E8A-4147-A177-3AD203B41FA5}">
                      <a16:colId xmlns:a16="http://schemas.microsoft.com/office/drawing/2014/main" val="1857902698"/>
                    </a:ext>
                  </a:extLst>
                </a:gridCol>
              </a:tblGrid>
              <a:tr h="597976">
                <a:tc>
                  <a:txBody>
                    <a:bodyPr/>
                    <a:lstStyle/>
                    <a:p>
                      <a:pPr algn="ctr"/>
                      <a:r>
                        <a:rPr lang="en-IN" dirty="0">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latin typeface="Times New Roman" panose="02020603050405020304" pitchFamily="18" charset="0"/>
                          <a:cs typeface="Times New Roman" panose="02020603050405020304" pitchFamily="18" charset="0"/>
                        </a:rPr>
                        <a:t>TECHNIQUES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atin typeface="Times New Roman" panose="02020603050405020304" pitchFamily="18" charset="0"/>
                          <a:cs typeface="Times New Roman" panose="02020603050405020304" pitchFamily="18" charset="0"/>
                        </a:rPr>
                        <a:t>DRAWBACKS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955188"/>
                  </a:ext>
                </a:extLst>
              </a:tr>
              <a:tr h="1639385">
                <a:tc>
                  <a:txBody>
                    <a:bodyPr/>
                    <a:lstStyle/>
                    <a:p>
                      <a:pPr algn="ctr"/>
                      <a:r>
                        <a:rPr lang="en-IN">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2018</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dirty="0"/>
                        <a:t>Automated Analysis and Prediction of Job Interview Performance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BR" dirty="0">
                          <a:latin typeface="Times New Roman" panose="02020603050405020304" pitchFamily="18" charset="0"/>
                          <a:cs typeface="Times New Roman" panose="02020603050405020304" pitchFamily="18" charset="0"/>
                        </a:rPr>
                        <a:t>I. Naim, M. I. Tanveer, D. Gildea, M. E. Hoque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dirty="0"/>
                        <a:t>Machine learning, NLP-based feature extraction, interview performance modeling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dirty="0"/>
                        <a:t>Requires video and audio inputs, high computational complexity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8886055"/>
                  </a:ext>
                </a:extLst>
              </a:tr>
              <a:tr h="1357366">
                <a:tc>
                  <a:txBody>
                    <a:bodyPr/>
                    <a:lstStyle/>
                    <a:p>
                      <a:pPr algn="ctr"/>
                      <a:r>
                        <a:rPr lang="en-IN">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2024</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A Comprehensive Review on Generative AI for Education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dirty="0"/>
                        <a:t>U. Mittal, S. Sai, V. Chamola, D. Sangwan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err="1"/>
                        <a:t>Generative</a:t>
                      </a:r>
                      <a:r>
                        <a:rPr lang="fr-FR" dirty="0"/>
                        <a:t> AI </a:t>
                      </a:r>
                      <a:r>
                        <a:rPr lang="fr-FR" dirty="0" err="1"/>
                        <a:t>models</a:t>
                      </a:r>
                      <a:r>
                        <a:rPr lang="fr-FR" dirty="0"/>
                        <a:t>, NLP, AI-</a:t>
                      </a:r>
                      <a:r>
                        <a:rPr lang="fr-FR" dirty="0" err="1"/>
                        <a:t>driven</a:t>
                      </a:r>
                      <a:r>
                        <a:rPr lang="fr-FR" dirty="0"/>
                        <a:t> feedback </a:t>
                      </a:r>
                      <a:r>
                        <a:rPr lang="fr-FR" dirty="0" err="1"/>
                        <a:t>systems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Mostly survey-based, lacks real-time implementation</a:t>
                      </a:r>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87923"/>
                  </a:ext>
                </a:extLst>
              </a:tr>
              <a:tr h="1357366">
                <a:tc>
                  <a:txBody>
                    <a:bodyPr/>
                    <a:lstStyle/>
                    <a:p>
                      <a:pPr algn="ctr"/>
                      <a:r>
                        <a:rPr lang="en-IN">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2025</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Generative AI in Engineering and Computing Education: A Scoping Review</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J. Álvarez Ariza, M. Benítez Restrepo, C. Hernández </a:t>
                      </a:r>
                      <a:r>
                        <a:rPr lang="en-IN" dirty="0" err="1"/>
                        <a:t>Hernández</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Large Language Models (LLMs), prompt engineering, AI literacy frameworks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Focuses on educational practices, not automated evaluation systems</a:t>
                      </a:r>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830898"/>
                  </a:ext>
                </a:extLst>
              </a:tr>
            </a:tbl>
          </a:graphicData>
        </a:graphic>
      </p:graphicFrame>
      <p:sp>
        <p:nvSpPr>
          <p:cNvPr id="5" name="Slide Number Placeholder 4">
            <a:extLst>
              <a:ext uri="{FF2B5EF4-FFF2-40B4-BE49-F238E27FC236}">
                <a16:creationId xmlns:a16="http://schemas.microsoft.com/office/drawing/2014/main" id="{3B13386D-9A59-2F75-F9E8-6DBBC494A46D}"/>
              </a:ext>
            </a:extLst>
          </p:cNvPr>
          <p:cNvSpPr>
            <a:spLocks noGrp="1"/>
          </p:cNvSpPr>
          <p:nvPr>
            <p:ph type="sldNum" sz="quarter" idx="12"/>
          </p:nvPr>
        </p:nvSpPr>
        <p:spPr/>
        <p:txBody>
          <a:bodyPr/>
          <a:lstStyle/>
          <a:p>
            <a:fld id="{3DEB779A-7110-4DE2-B295-CAC04DA4647A}" type="slidenum">
              <a:rPr lang="en-IN" smtClean="0"/>
              <a:t>7</a:t>
            </a:fld>
            <a:endParaRPr lang="en-IN"/>
          </a:p>
        </p:txBody>
      </p:sp>
    </p:spTree>
    <p:extLst>
      <p:ext uri="{BB962C8B-B14F-4D97-AF65-F5344CB8AC3E}">
        <p14:creationId xmlns:p14="http://schemas.microsoft.com/office/powerpoint/2010/main" val="2246815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A3345-A6E6-DED0-066D-C69C03AC8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22992-293B-CE40-34B9-359EC5927EB3}"/>
              </a:ext>
            </a:extLst>
          </p:cNvPr>
          <p:cNvSpPr>
            <a:spLocks noGrp="1"/>
          </p:cNvSpPr>
          <p:nvPr>
            <p:ph type="title"/>
          </p:nvPr>
        </p:nvSpPr>
        <p:spPr>
          <a:xfrm>
            <a:off x="838200" y="148815"/>
            <a:ext cx="10515600" cy="1325563"/>
          </a:xfrm>
        </p:spPr>
        <p:txBody>
          <a:bodyPr/>
          <a:lstStyle/>
          <a:p>
            <a:pPr algn="ctr"/>
            <a:r>
              <a:rPr lang="en-IN" u="sng" dirty="0">
                <a:latin typeface="Times New Roman" panose="02020603050405020304" pitchFamily="18" charset="0"/>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71549D25-D66C-4271-9578-1872F514E849}"/>
              </a:ext>
            </a:extLst>
          </p:cNvPr>
          <p:cNvGraphicFramePr>
            <a:graphicFrameLocks noGrp="1"/>
          </p:cNvGraphicFramePr>
          <p:nvPr>
            <p:extLst>
              <p:ext uri="{D42A27DB-BD31-4B8C-83A1-F6EECF244321}">
                <p14:modId xmlns:p14="http://schemas.microsoft.com/office/powerpoint/2010/main" val="308355765"/>
              </p:ext>
            </p:extLst>
          </p:nvPr>
        </p:nvGraphicFramePr>
        <p:xfrm>
          <a:off x="581333" y="1551056"/>
          <a:ext cx="11029334" cy="4728616"/>
        </p:xfrm>
        <a:graphic>
          <a:graphicData uri="http://schemas.openxmlformats.org/drawingml/2006/table">
            <a:tbl>
              <a:tblPr firstRow="1">
                <a:tableStyleId>{3B4B98B0-60AC-42C2-AFA5-B58CD77FA1E5}</a:tableStyleId>
              </a:tblPr>
              <a:tblGrid>
                <a:gridCol w="775893">
                  <a:extLst>
                    <a:ext uri="{9D8B030D-6E8A-4147-A177-3AD203B41FA5}">
                      <a16:colId xmlns:a16="http://schemas.microsoft.com/office/drawing/2014/main" val="580630675"/>
                    </a:ext>
                  </a:extLst>
                </a:gridCol>
                <a:gridCol w="924798">
                  <a:extLst>
                    <a:ext uri="{9D8B030D-6E8A-4147-A177-3AD203B41FA5}">
                      <a16:colId xmlns:a16="http://schemas.microsoft.com/office/drawing/2014/main" val="2482416136"/>
                    </a:ext>
                  </a:extLst>
                </a:gridCol>
                <a:gridCol w="2529709">
                  <a:extLst>
                    <a:ext uri="{9D8B030D-6E8A-4147-A177-3AD203B41FA5}">
                      <a16:colId xmlns:a16="http://schemas.microsoft.com/office/drawing/2014/main" val="1083997327"/>
                    </a:ext>
                  </a:extLst>
                </a:gridCol>
                <a:gridCol w="2783367">
                  <a:extLst>
                    <a:ext uri="{9D8B030D-6E8A-4147-A177-3AD203B41FA5}">
                      <a16:colId xmlns:a16="http://schemas.microsoft.com/office/drawing/2014/main" val="1136025601"/>
                    </a:ext>
                  </a:extLst>
                </a:gridCol>
                <a:gridCol w="1518175">
                  <a:extLst>
                    <a:ext uri="{9D8B030D-6E8A-4147-A177-3AD203B41FA5}">
                      <a16:colId xmlns:a16="http://schemas.microsoft.com/office/drawing/2014/main" val="566135897"/>
                    </a:ext>
                  </a:extLst>
                </a:gridCol>
                <a:gridCol w="2497392">
                  <a:extLst>
                    <a:ext uri="{9D8B030D-6E8A-4147-A177-3AD203B41FA5}">
                      <a16:colId xmlns:a16="http://schemas.microsoft.com/office/drawing/2014/main" val="1857902698"/>
                    </a:ext>
                  </a:extLst>
                </a:gridCol>
              </a:tblGrid>
              <a:tr h="705256">
                <a:tc>
                  <a:txBody>
                    <a:bodyPr/>
                    <a:lstStyle/>
                    <a:p>
                      <a:pPr algn="ctr"/>
                      <a:r>
                        <a:rPr lang="en-IN" dirty="0">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latin typeface="Times New Roman" panose="02020603050405020304" pitchFamily="18" charset="0"/>
                          <a:cs typeface="Times New Roman" panose="02020603050405020304" pitchFamily="18" charset="0"/>
                        </a:rPr>
                        <a:t>TECHNIQUES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DRAWBACKS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955188"/>
                  </a:ext>
                </a:extLst>
              </a:tr>
              <a:tr h="1336071">
                <a:tc>
                  <a:txBody>
                    <a:bodyPr/>
                    <a:lstStyle/>
                    <a:p>
                      <a:pPr algn="ctr"/>
                      <a:r>
                        <a:rPr lang="en-IN"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ChatGPT for Learning HCI Techniques: A Case Study on Interviews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J. </a:t>
                      </a:r>
                      <a:r>
                        <a:rPr lang="en-IN" dirty="0" err="1"/>
                        <a:t>Barambones</a:t>
                      </a:r>
                      <a:r>
                        <a:rPr lang="en-IN" dirty="0"/>
                        <a:t>, A. Fernández, L. Otaegui</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LLM-based conversational AI, interview simulation, AI-assisted learning</a:t>
                      </a:r>
                      <a:endParaRPr lang="en-IN"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Limited to conversational guidance, no automated scoring mechanism</a:t>
                      </a:r>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8886055"/>
                  </a:ext>
                </a:extLst>
              </a:tr>
              <a:tr h="1337900">
                <a:tc>
                  <a:txBody>
                    <a:bodyPr/>
                    <a:lstStyle/>
                    <a:p>
                      <a:pPr algn="ctr"/>
                      <a:r>
                        <a:rPr lang="en-IN"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Multimodal Transfer Learning for Oral Presentation Assessment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 S. Y. Tun, H. Li, M. Wu</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Transfer learning, multimodal deep learning, performance assessment models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dirty="0"/>
                        <a:t>Requires large labeled datasets, limited scalability</a:t>
                      </a:r>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87923"/>
                  </a:ext>
                </a:extLst>
              </a:tr>
            </a:tbl>
          </a:graphicData>
        </a:graphic>
      </p:graphicFrame>
      <p:sp>
        <p:nvSpPr>
          <p:cNvPr id="5" name="Slide Number Placeholder 4">
            <a:extLst>
              <a:ext uri="{FF2B5EF4-FFF2-40B4-BE49-F238E27FC236}">
                <a16:creationId xmlns:a16="http://schemas.microsoft.com/office/drawing/2014/main" id="{991E6AC0-9F83-AF06-6DA9-3AA91937F886}"/>
              </a:ext>
            </a:extLst>
          </p:cNvPr>
          <p:cNvSpPr>
            <a:spLocks noGrp="1"/>
          </p:cNvSpPr>
          <p:nvPr>
            <p:ph type="sldNum" sz="quarter" idx="12"/>
          </p:nvPr>
        </p:nvSpPr>
        <p:spPr/>
        <p:txBody>
          <a:bodyPr/>
          <a:lstStyle/>
          <a:p>
            <a:fld id="{3DEB779A-7110-4DE2-B295-CAC04DA4647A}" type="slidenum">
              <a:rPr lang="en-IN" smtClean="0"/>
              <a:t>8</a:t>
            </a:fld>
            <a:endParaRPr lang="en-IN"/>
          </a:p>
        </p:txBody>
      </p:sp>
    </p:spTree>
    <p:extLst>
      <p:ext uri="{BB962C8B-B14F-4D97-AF65-F5344CB8AC3E}">
        <p14:creationId xmlns:p14="http://schemas.microsoft.com/office/powerpoint/2010/main" val="3848903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C7842-6DFA-52F0-3973-C83AA0828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D36F2-40C5-C2FE-9521-269E0B5BDC92}"/>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9C625D52-9801-348F-E9B8-211FD0594A7E}"/>
              </a:ext>
            </a:extLst>
          </p:cNvPr>
          <p:cNvSpPr>
            <a:spLocks noGrp="1"/>
          </p:cNvSpPr>
          <p:nvPr>
            <p:ph idx="1"/>
          </p:nvPr>
        </p:nvSpPr>
        <p:spPr>
          <a:xfrm>
            <a:off x="838200" y="1713156"/>
            <a:ext cx="10515600" cy="4620725"/>
          </a:xfrm>
        </p:spPr>
        <p:txBody>
          <a:bodyPr>
            <a:noAutofit/>
          </a:bodyPr>
          <a:lstStyle/>
          <a:p>
            <a:r>
              <a:rPr lang="en-US" sz="1800" dirty="0"/>
              <a:t>Traditional interview assessment systems rely primarily on manual question preparation and human evaluation.</a:t>
            </a:r>
          </a:p>
          <a:p>
            <a:r>
              <a:rPr lang="en-US" sz="1800" dirty="0"/>
              <a:t>Interviewers design questions based on personal experience, which often leads to inconsistency and subjectivity in assessments.</a:t>
            </a:r>
          </a:p>
          <a:p>
            <a:r>
              <a:rPr lang="en-US" sz="1800" dirty="0"/>
              <a:t>Manual evaluation processes are time-consuming and require significant effort from recruiters or faculty members.</a:t>
            </a:r>
          </a:p>
          <a:p>
            <a:r>
              <a:rPr lang="en-US" sz="1800" dirty="0"/>
              <a:t>Existing systems lack automation in generating skill-specific interview questions for candidates with diverse technical backgrounds.</a:t>
            </a:r>
          </a:p>
          <a:p>
            <a:r>
              <a:rPr lang="en-US" sz="1800" dirty="0"/>
              <a:t>Most interview assessments do not provide structured performance analytics or detailed feedback reports.</a:t>
            </a:r>
          </a:p>
          <a:p>
            <a:r>
              <a:rPr lang="en-US" sz="1800" dirty="0"/>
              <a:t>Record maintenance and result documentation are often handled manually or through basic tools, increasing the risk of errors.</a:t>
            </a:r>
          </a:p>
          <a:p>
            <a:r>
              <a:rPr lang="en-US" sz="1800" dirty="0"/>
              <a:t>Many current systems do not support scalability and are inefficient when evaluating a large number of candidates.</a:t>
            </a:r>
          </a:p>
          <a:p>
            <a:r>
              <a:rPr lang="en-US" sz="1800" dirty="0"/>
              <a:t>Dependence on human evaluators increases bias and reduces uniformity in the assessment process.</a:t>
            </a:r>
          </a:p>
        </p:txBody>
      </p:sp>
      <p:sp>
        <p:nvSpPr>
          <p:cNvPr id="5" name="Slide Number Placeholder 4">
            <a:extLst>
              <a:ext uri="{FF2B5EF4-FFF2-40B4-BE49-F238E27FC236}">
                <a16:creationId xmlns:a16="http://schemas.microsoft.com/office/drawing/2014/main" id="{656C8CA3-5506-AEBF-951E-847D11A1BB81}"/>
              </a:ext>
            </a:extLst>
          </p:cNvPr>
          <p:cNvSpPr>
            <a:spLocks noGrp="1"/>
          </p:cNvSpPr>
          <p:nvPr>
            <p:ph type="sldNum" sz="quarter" idx="12"/>
          </p:nvPr>
        </p:nvSpPr>
        <p:spPr/>
        <p:txBody>
          <a:bodyPr/>
          <a:lstStyle/>
          <a:p>
            <a:fld id="{3DEB779A-7110-4DE2-B295-CAC04DA4647A}" type="slidenum">
              <a:rPr lang="en-IN" smtClean="0"/>
              <a:t>9</a:t>
            </a:fld>
            <a:endParaRPr lang="en-IN"/>
          </a:p>
        </p:txBody>
      </p:sp>
    </p:spTree>
    <p:extLst>
      <p:ext uri="{BB962C8B-B14F-4D97-AF65-F5344CB8AC3E}">
        <p14:creationId xmlns:p14="http://schemas.microsoft.com/office/powerpoint/2010/main" val="145652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238F9-5AE9-A92A-D08F-3C43815C2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045E-62BB-59EC-A5C3-1DD20E9EE2C5}"/>
              </a:ext>
            </a:extLst>
          </p:cNvPr>
          <p:cNvSpPr>
            <a:spLocks noGrp="1"/>
          </p:cNvSpPr>
          <p:nvPr>
            <p:ph type="title"/>
          </p:nvPr>
        </p:nvSpPr>
        <p:spPr>
          <a:xfrm>
            <a:off x="838200" y="136525"/>
            <a:ext cx="10515600" cy="1325563"/>
          </a:xfrm>
        </p:spPr>
        <p:txBody>
          <a:bodyPr/>
          <a:lstStyle/>
          <a:p>
            <a:pPr algn="ctr"/>
            <a:r>
              <a:rPr lang="en-IN" u="sng"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22598EAA-1C27-F293-EB3A-FE35CA84C076}"/>
              </a:ext>
            </a:extLst>
          </p:cNvPr>
          <p:cNvSpPr>
            <a:spLocks noGrp="1"/>
          </p:cNvSpPr>
          <p:nvPr>
            <p:ph idx="1"/>
          </p:nvPr>
        </p:nvSpPr>
        <p:spPr>
          <a:xfrm>
            <a:off x="947420" y="1290017"/>
            <a:ext cx="10297160" cy="3588749"/>
          </a:xfrm>
        </p:spPr>
        <p:txBody>
          <a:bodyPr>
            <a:noAutofit/>
          </a:bodyPr>
          <a:lstStyle/>
          <a:p>
            <a:r>
              <a:rPr lang="en-US" sz="1800" dirty="0"/>
              <a:t>The proposed system, SkillGauge AI, is an intelligent interview assessment platform designed to automate the entire interview evaluation process.</a:t>
            </a:r>
          </a:p>
          <a:p>
            <a:r>
              <a:rPr lang="en-US" sz="1800" dirty="0"/>
              <a:t>The system accepts candidate skill details either through manual input or by extracting skills from uploaded resume PDFs.</a:t>
            </a:r>
          </a:p>
          <a:p>
            <a:r>
              <a:rPr lang="en-US" sz="1800" dirty="0"/>
              <a:t>Generative Artificial Intelligence is used to generate domain-specific multiple-choice interview questions based on the candidate’s skill set.</a:t>
            </a:r>
          </a:p>
          <a:p>
            <a:r>
              <a:rPr lang="en-US" sz="1800" dirty="0"/>
              <a:t>To ensure reliability, the system incorporates a curated fallback question bank that is used when AI services are unavailable.</a:t>
            </a:r>
          </a:p>
          <a:p>
            <a:r>
              <a:rPr lang="en-US" sz="1800" dirty="0"/>
              <a:t>The platform conducts automated evaluation by comparing candidate responses with correct answers and calculating scores instantly.</a:t>
            </a:r>
          </a:p>
          <a:p>
            <a:r>
              <a:rPr lang="en-US" sz="1800" dirty="0"/>
              <a:t>Visual performance analytics are generated to help candidates clearly understand their strengths and weaknesses.</a:t>
            </a:r>
          </a:p>
          <a:p>
            <a:r>
              <a:rPr lang="en-US" sz="1800" dirty="0"/>
              <a:t>Detailed assessment reports are automatically generated in PDF format and sent to candidates via email.</a:t>
            </a:r>
          </a:p>
          <a:p>
            <a:r>
              <a:rPr lang="en-US" sz="1800" dirty="0"/>
              <a:t>All assessment records are stored securely and made available for administrative analysis through an integrated dashboard.</a:t>
            </a:r>
          </a:p>
          <a:p>
            <a:r>
              <a:rPr lang="en-US" sz="1800" dirty="0"/>
              <a:t>The proposed system reduces manual effort, minimizes human bias, and ensures consistency and scalability in interview assessments.</a:t>
            </a:r>
          </a:p>
        </p:txBody>
      </p:sp>
      <p:sp>
        <p:nvSpPr>
          <p:cNvPr id="5" name="Slide Number Placeholder 4">
            <a:extLst>
              <a:ext uri="{FF2B5EF4-FFF2-40B4-BE49-F238E27FC236}">
                <a16:creationId xmlns:a16="http://schemas.microsoft.com/office/drawing/2014/main" id="{E8DFF097-07AA-F184-C801-3BCBACFE9DB6}"/>
              </a:ext>
            </a:extLst>
          </p:cNvPr>
          <p:cNvSpPr>
            <a:spLocks noGrp="1"/>
          </p:cNvSpPr>
          <p:nvPr>
            <p:ph type="sldNum" sz="quarter" idx="12"/>
          </p:nvPr>
        </p:nvSpPr>
        <p:spPr/>
        <p:txBody>
          <a:bodyPr/>
          <a:lstStyle/>
          <a:p>
            <a:fld id="{3DEB779A-7110-4DE2-B295-CAC04DA4647A}" type="slidenum">
              <a:rPr lang="en-IN" smtClean="0"/>
              <a:t>10</a:t>
            </a:fld>
            <a:endParaRPr lang="en-IN"/>
          </a:p>
        </p:txBody>
      </p:sp>
    </p:spTree>
    <p:extLst>
      <p:ext uri="{BB962C8B-B14F-4D97-AF65-F5344CB8AC3E}">
        <p14:creationId xmlns:p14="http://schemas.microsoft.com/office/powerpoint/2010/main" val="2783331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823C501-0A21-B322-89E8-0CCB51B499FD}"/>
              </a:ext>
            </a:extLst>
          </p:cNvPr>
          <p:cNvSpPr txBox="1"/>
          <p:nvPr/>
        </p:nvSpPr>
        <p:spPr>
          <a:xfrm>
            <a:off x="1808390" y="145898"/>
            <a:ext cx="8298996" cy="769441"/>
          </a:xfrm>
          <a:prstGeom prst="rect">
            <a:avLst/>
          </a:prstGeom>
          <a:noFill/>
        </p:spPr>
        <p:txBody>
          <a:bodyPr wrap="square">
            <a:spAutoFit/>
          </a:bodyPr>
          <a:lstStyle/>
          <a:p>
            <a:pPr algn="ctr"/>
            <a:r>
              <a:rPr lang="en-IN" sz="4400" u="sng" dirty="0">
                <a:latin typeface="Times New Roman" panose="02020603050405020304" pitchFamily="18" charset="0"/>
                <a:cs typeface="Times New Roman" panose="02020603050405020304" pitchFamily="18" charset="0"/>
              </a:rPr>
              <a:t>ARCHITECTURE DIAGRAM</a:t>
            </a:r>
          </a:p>
        </p:txBody>
      </p:sp>
      <p:pic>
        <p:nvPicPr>
          <p:cNvPr id="3" name="Picture 2">
            <a:extLst>
              <a:ext uri="{FF2B5EF4-FFF2-40B4-BE49-F238E27FC236}">
                <a16:creationId xmlns:a16="http://schemas.microsoft.com/office/drawing/2014/main" id="{28A35B92-FB87-4891-08C4-2F13838A30DB}"/>
              </a:ext>
            </a:extLst>
          </p:cNvPr>
          <p:cNvPicPr>
            <a:picLocks noChangeAspect="1"/>
          </p:cNvPicPr>
          <p:nvPr/>
        </p:nvPicPr>
        <p:blipFill>
          <a:blip r:embed="rId2"/>
          <a:stretch>
            <a:fillRect/>
          </a:stretch>
        </p:blipFill>
        <p:spPr>
          <a:xfrm>
            <a:off x="1808390" y="1179871"/>
            <a:ext cx="7640894" cy="5093929"/>
          </a:xfrm>
          <a:prstGeom prst="rect">
            <a:avLst/>
          </a:prstGeom>
        </p:spPr>
      </p:pic>
    </p:spTree>
    <p:extLst>
      <p:ext uri="{BB962C8B-B14F-4D97-AF65-F5344CB8AC3E}">
        <p14:creationId xmlns:p14="http://schemas.microsoft.com/office/powerpoint/2010/main" val="208021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F6D5E-C1B3-B561-3444-E450FBAA2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8ACFC-893C-0985-C449-6C889740E39C}"/>
              </a:ext>
            </a:extLst>
          </p:cNvPr>
          <p:cNvSpPr>
            <a:spLocks noGrp="1"/>
          </p:cNvSpPr>
          <p:nvPr>
            <p:ph type="title"/>
          </p:nvPr>
        </p:nvSpPr>
        <p:spPr>
          <a:xfrm>
            <a:off x="838200" y="181462"/>
            <a:ext cx="10515600" cy="1189038"/>
          </a:xfrm>
        </p:spPr>
        <p:txBody>
          <a:bodyPr/>
          <a:lstStyle/>
          <a:p>
            <a:pPr algn="ctr"/>
            <a:r>
              <a:rPr lang="en-IN" u="sng" dirty="0">
                <a:latin typeface="Times New Roman" panose="02020603050405020304" pitchFamily="18" charset="0"/>
                <a:cs typeface="Times New Roman" panose="02020603050405020304" pitchFamily="18" charset="0"/>
              </a:rPr>
              <a:t>SOFTWARE REQUIREMENTS</a:t>
            </a:r>
          </a:p>
        </p:txBody>
      </p:sp>
      <p:sp>
        <p:nvSpPr>
          <p:cNvPr id="3" name="Content Placeholder 2">
            <a:extLst>
              <a:ext uri="{FF2B5EF4-FFF2-40B4-BE49-F238E27FC236}">
                <a16:creationId xmlns:a16="http://schemas.microsoft.com/office/drawing/2014/main" id="{5033D010-ED6F-AC61-97FB-4BF4CE867B18}"/>
              </a:ext>
            </a:extLst>
          </p:cNvPr>
          <p:cNvSpPr>
            <a:spLocks noGrp="1"/>
          </p:cNvSpPr>
          <p:nvPr>
            <p:ph idx="1"/>
          </p:nvPr>
        </p:nvSpPr>
        <p:spPr>
          <a:xfrm>
            <a:off x="919152" y="1645803"/>
            <a:ext cx="10515600" cy="4620725"/>
          </a:xfrm>
        </p:spPr>
        <p:txBody>
          <a:bodyPr>
            <a:noAutofit/>
          </a:bodyPr>
          <a:lstStyle/>
          <a:p>
            <a:r>
              <a:rPr lang="en-IN" sz="1800" dirty="0"/>
              <a:t>Operating System: Windows 10 / 11, Linux, or macOS</a:t>
            </a:r>
          </a:p>
          <a:p>
            <a:r>
              <a:rPr lang="en-IN" sz="1800" dirty="0"/>
              <a:t>Programming Language: Python 3.8 or above</a:t>
            </a:r>
          </a:p>
          <a:p>
            <a:r>
              <a:rPr lang="en-IN" sz="1800" dirty="0"/>
              <a:t>Frontend Framework: </a:t>
            </a:r>
            <a:r>
              <a:rPr lang="en-IN" sz="1800" dirty="0" err="1"/>
              <a:t>Streamlit</a:t>
            </a:r>
            <a:r>
              <a:rPr lang="en-IN" sz="1800" dirty="0"/>
              <a:t> (for web-based user interface)</a:t>
            </a:r>
          </a:p>
          <a:p>
            <a:r>
              <a:rPr lang="en-IN" sz="1800" dirty="0"/>
              <a:t>Backend Technologies: Python Standard Libraries</a:t>
            </a:r>
          </a:p>
          <a:p>
            <a:r>
              <a:rPr lang="en-IN" sz="1800" dirty="0"/>
              <a:t>Artificial Intelligence API: Google Gemini API (Generative AI for question generation and skill extraction)</a:t>
            </a:r>
          </a:p>
          <a:p>
            <a:r>
              <a:rPr lang="en-IN" sz="1800" dirty="0"/>
              <a:t>Libraries and Packages: </a:t>
            </a:r>
            <a:r>
              <a:rPr lang="en-IN" sz="1800" dirty="0" err="1"/>
              <a:t>Streamlit</a:t>
            </a:r>
            <a:r>
              <a:rPr lang="en-IN" sz="1800" dirty="0"/>
              <a:t>, Pandas, Matplotlib, PyPDF2, </a:t>
            </a:r>
            <a:r>
              <a:rPr lang="en-IN" sz="1800" dirty="0" err="1"/>
              <a:t>ReportLab</a:t>
            </a:r>
            <a:r>
              <a:rPr lang="en-IN" sz="1800" dirty="0"/>
              <a:t>, </a:t>
            </a:r>
            <a:r>
              <a:rPr lang="en-IN" sz="1800" dirty="0" err="1"/>
              <a:t>OpenPyXL</a:t>
            </a:r>
            <a:r>
              <a:rPr lang="en-IN" sz="1800" dirty="0"/>
              <a:t>, </a:t>
            </a:r>
            <a:r>
              <a:rPr lang="en-IN" sz="1800" dirty="0" err="1"/>
              <a:t>smtplib</a:t>
            </a:r>
            <a:r>
              <a:rPr lang="en-IN" sz="1800" dirty="0"/>
              <a:t> (Email service), </a:t>
            </a:r>
            <a:r>
              <a:rPr lang="en-IN" sz="1800" dirty="0" err="1"/>
              <a:t>json</a:t>
            </a:r>
            <a:r>
              <a:rPr lang="en-IN" sz="1800" dirty="0"/>
              <a:t>, re, datetime, </a:t>
            </a:r>
            <a:r>
              <a:rPr lang="en-IN" sz="1800" dirty="0" err="1"/>
              <a:t>os</a:t>
            </a:r>
            <a:endParaRPr lang="en-IN" sz="1800" dirty="0"/>
          </a:p>
          <a:p>
            <a:r>
              <a:rPr lang="en-IN" sz="1800" dirty="0"/>
              <a:t>Database / Storage: Excel (.xlsx) for storing assessment records</a:t>
            </a:r>
          </a:p>
          <a:p>
            <a:r>
              <a:rPr lang="en-IN" sz="1800" dirty="0"/>
              <a:t>Development Environment: VS Code / PyCharm / </a:t>
            </a:r>
            <a:r>
              <a:rPr lang="en-IN" sz="1800" dirty="0" err="1"/>
              <a:t>Jupyter</a:t>
            </a:r>
            <a:r>
              <a:rPr lang="en-IN" sz="1800" dirty="0"/>
              <a:t> Notebook</a:t>
            </a:r>
          </a:p>
          <a:p>
            <a:r>
              <a:rPr lang="en-IN" sz="1800" dirty="0"/>
              <a:t>Web Browser: Google Chrome / Mozilla Firefox / Microsoft Edge</a:t>
            </a:r>
          </a:p>
          <a:p>
            <a:r>
              <a:rPr lang="en-IN" sz="1800" dirty="0"/>
              <a:t>Email Service: Gmail SMTP service</a:t>
            </a:r>
          </a:p>
        </p:txBody>
      </p:sp>
      <p:sp>
        <p:nvSpPr>
          <p:cNvPr id="5" name="Slide Number Placeholder 4">
            <a:extLst>
              <a:ext uri="{FF2B5EF4-FFF2-40B4-BE49-F238E27FC236}">
                <a16:creationId xmlns:a16="http://schemas.microsoft.com/office/drawing/2014/main" id="{897BACED-CBB3-BE9F-A5D4-EB3B6B9D9A30}"/>
              </a:ext>
            </a:extLst>
          </p:cNvPr>
          <p:cNvSpPr>
            <a:spLocks noGrp="1"/>
          </p:cNvSpPr>
          <p:nvPr>
            <p:ph type="sldNum" sz="quarter" idx="12"/>
          </p:nvPr>
        </p:nvSpPr>
        <p:spPr/>
        <p:txBody>
          <a:bodyPr/>
          <a:lstStyle/>
          <a:p>
            <a:fld id="{3DEB779A-7110-4DE2-B295-CAC04DA4647A}" type="slidenum">
              <a:rPr lang="en-IN" smtClean="0"/>
              <a:t>12</a:t>
            </a:fld>
            <a:endParaRPr lang="en-IN"/>
          </a:p>
        </p:txBody>
      </p:sp>
    </p:spTree>
    <p:extLst>
      <p:ext uri="{BB962C8B-B14F-4D97-AF65-F5344CB8AC3E}">
        <p14:creationId xmlns:p14="http://schemas.microsoft.com/office/powerpoint/2010/main" val="2858106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25AD-3C41-1FE9-981F-2E47F9C4E563}"/>
              </a:ext>
            </a:extLst>
          </p:cNvPr>
          <p:cNvSpPr>
            <a:spLocks noGrp="1"/>
          </p:cNvSpPr>
          <p:nvPr>
            <p:ph type="title"/>
          </p:nvPr>
        </p:nvSpPr>
        <p:spPr>
          <a:xfrm>
            <a:off x="838200" y="32799"/>
            <a:ext cx="10515600" cy="1325563"/>
          </a:xfrm>
        </p:spPr>
        <p:txBody>
          <a:bodyPr>
            <a:normAutofit/>
          </a:bodyPr>
          <a:lstStyle/>
          <a:p>
            <a:pPr algn="ctr"/>
            <a:r>
              <a:rPr lang="en-IN" u="sng" dirty="0">
                <a:latin typeface="Times New Roman" panose="02020603050405020304" pitchFamily="18" charset="0"/>
                <a:cs typeface="Times New Roman" panose="02020603050405020304" pitchFamily="18" charset="0"/>
              </a:rPr>
              <a:t>TECHNIQUES USED</a:t>
            </a:r>
          </a:p>
        </p:txBody>
      </p:sp>
      <p:sp>
        <p:nvSpPr>
          <p:cNvPr id="6" name="Slide Number Placeholder 5">
            <a:extLst>
              <a:ext uri="{FF2B5EF4-FFF2-40B4-BE49-F238E27FC236}">
                <a16:creationId xmlns:a16="http://schemas.microsoft.com/office/drawing/2014/main" id="{47A2DE6B-3496-6AC0-46DE-706F315318E8}"/>
              </a:ext>
            </a:extLst>
          </p:cNvPr>
          <p:cNvSpPr>
            <a:spLocks noGrp="1"/>
          </p:cNvSpPr>
          <p:nvPr>
            <p:ph type="sldNum" sz="quarter" idx="12"/>
          </p:nvPr>
        </p:nvSpPr>
        <p:spPr/>
        <p:txBody>
          <a:bodyPr/>
          <a:lstStyle/>
          <a:p>
            <a:fld id="{3DEB779A-7110-4DE2-B295-CAC04DA4647A}" type="slidenum">
              <a:rPr lang="en-IN" smtClean="0"/>
              <a:t>13</a:t>
            </a:fld>
            <a:endParaRPr lang="en-IN"/>
          </a:p>
        </p:txBody>
      </p:sp>
      <p:sp>
        <p:nvSpPr>
          <p:cNvPr id="4" name="Rectangle 2">
            <a:extLst>
              <a:ext uri="{FF2B5EF4-FFF2-40B4-BE49-F238E27FC236}">
                <a16:creationId xmlns:a16="http://schemas.microsoft.com/office/drawing/2014/main" id="{826B73A9-2BEB-00C6-8D1A-9211EE94690E}"/>
              </a:ext>
            </a:extLst>
          </p:cNvPr>
          <p:cNvSpPr>
            <a:spLocks noGrp="1" noChangeArrowheads="1"/>
          </p:cNvSpPr>
          <p:nvPr>
            <p:ph idx="1"/>
          </p:nvPr>
        </p:nvSpPr>
        <p:spPr bwMode="auto">
          <a:xfrm>
            <a:off x="388374" y="1684737"/>
            <a:ext cx="1141525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Generative Artificial Intelligence is used to automatically generate domain-specific interview questions based on candidate skills and resume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Natural Language Processing techniques are applied to extract technical skills from resume PDFs and analyze textual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Prompt engineering is employed to ensure consistent, structured, and valid multiple-choice question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Rule-based evaluation techniques are used to compare candidate responses with correct answers and calculate scores objectively.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 fallback mechanism using a curated question bank ensures uninterrupted assessments when AI services are unavailable.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Automated report generation techniques are used to create detailed PDF assessment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Data analytics methods are applied to compute performance metrics such as scores and percentages.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Visualization techniques are used to present performance analysis through charts and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Web application development techniques are implemented using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to provide an interactive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Email automation techniques are used to deliver assessment reports to candidates through SMTP services.</a:t>
            </a:r>
          </a:p>
        </p:txBody>
      </p:sp>
    </p:spTree>
    <p:extLst>
      <p:ext uri="{BB962C8B-B14F-4D97-AF65-F5344CB8AC3E}">
        <p14:creationId xmlns:p14="http://schemas.microsoft.com/office/powerpoint/2010/main" val="1337087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FFEF-00EC-49E8-2272-0FBE34343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CBA4C-3253-E7F4-E6DB-77FE47807C49}"/>
              </a:ext>
            </a:extLst>
          </p:cNvPr>
          <p:cNvSpPr>
            <a:spLocks noGrp="1"/>
          </p:cNvSpPr>
          <p:nvPr>
            <p:ph type="title"/>
          </p:nvPr>
        </p:nvSpPr>
        <p:spPr>
          <a:xfrm>
            <a:off x="523568" y="-120640"/>
            <a:ext cx="10515600" cy="1325563"/>
          </a:xfrm>
        </p:spPr>
        <p:txBody>
          <a:bodyPr/>
          <a:lstStyle/>
          <a:p>
            <a:pPr algn="ctr"/>
            <a:r>
              <a:rPr lang="en-IN" sz="3600" u="sng" dirty="0">
                <a:latin typeface="Times New Roman" panose="02020603050405020304" pitchFamily="18" charset="0"/>
                <a:cs typeface="Times New Roman" panose="02020603050405020304" pitchFamily="18" charset="0"/>
              </a:rPr>
              <a:t>FUNCTIONAL</a:t>
            </a:r>
            <a:r>
              <a:rPr lang="en-IN" u="sng" dirty="0">
                <a:latin typeface="Times New Roman" panose="02020603050405020304" pitchFamily="18" charset="0"/>
                <a:cs typeface="Times New Roman" panose="02020603050405020304" pitchFamily="18" charset="0"/>
              </a:rPr>
              <a:t> </a:t>
            </a:r>
            <a:r>
              <a:rPr lang="en-IN" sz="3600" u="sng" dirty="0">
                <a:latin typeface="Times New Roman" panose="02020603050405020304" pitchFamily="18" charset="0"/>
                <a:cs typeface="Times New Roman" panose="02020603050405020304" pitchFamily="18" charset="0"/>
              </a:rPr>
              <a:t>MODULES</a:t>
            </a:r>
            <a:endParaRPr lang="en-US" sz="3600" u="sng"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E5D030D-AD60-7DAC-B983-DDE3A26976A3}"/>
              </a:ext>
            </a:extLst>
          </p:cNvPr>
          <p:cNvSpPr>
            <a:spLocks noGrp="1"/>
          </p:cNvSpPr>
          <p:nvPr>
            <p:ph type="sldNum" sz="quarter" idx="12"/>
          </p:nvPr>
        </p:nvSpPr>
        <p:spPr/>
        <p:txBody>
          <a:bodyPr/>
          <a:lstStyle/>
          <a:p>
            <a:fld id="{3DEB779A-7110-4DE2-B295-CAC04DA4647A}" type="slidenum">
              <a:rPr lang="en-IN" smtClean="0"/>
              <a:t>14</a:t>
            </a:fld>
            <a:endParaRPr lang="en-IN"/>
          </a:p>
        </p:txBody>
      </p:sp>
      <p:sp>
        <p:nvSpPr>
          <p:cNvPr id="6" name="Rectangle 1">
            <a:extLst>
              <a:ext uri="{FF2B5EF4-FFF2-40B4-BE49-F238E27FC236}">
                <a16:creationId xmlns:a16="http://schemas.microsoft.com/office/drawing/2014/main" id="{C0A87E9D-C880-EF9C-E836-1F103155D71B}"/>
              </a:ext>
            </a:extLst>
          </p:cNvPr>
          <p:cNvSpPr>
            <a:spLocks noGrp="1" noChangeArrowheads="1"/>
          </p:cNvSpPr>
          <p:nvPr>
            <p:ph idx="1"/>
          </p:nvPr>
        </p:nvSpPr>
        <p:spPr bwMode="auto">
          <a:xfrm>
            <a:off x="1025832" y="1100523"/>
            <a:ext cx="991816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Allows users to enter technical skills manually or upload a resume in PDF format.</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Extracts technical skills from resumes using text processing techniques.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Generates domain-specific interview questions using Generative AI based on extracted skills.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Uses a curated question bank as a fallback when AI services are unavailable.</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Records user responses during the assessment process.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Automatically evaluates answers and calculates the final score.</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Generates detailed assessment reports in PDF format.</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Sends the assessment report to candidates through automated email services.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Stores assessment results securely for future reference.</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Provides an admin dashboard for viewing assessment records and performance analytics.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8752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76A3-CC20-1957-4AE6-AA2E29E5FB21}"/>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SYSTEM IMPLEMENTATION</a:t>
            </a:r>
          </a:p>
        </p:txBody>
      </p:sp>
      <p:sp>
        <p:nvSpPr>
          <p:cNvPr id="6" name="Slide Number Placeholder 5">
            <a:extLst>
              <a:ext uri="{FF2B5EF4-FFF2-40B4-BE49-F238E27FC236}">
                <a16:creationId xmlns:a16="http://schemas.microsoft.com/office/drawing/2014/main" id="{8F81D97A-B793-1F57-1075-1ED6500961AF}"/>
              </a:ext>
            </a:extLst>
          </p:cNvPr>
          <p:cNvSpPr>
            <a:spLocks noGrp="1"/>
          </p:cNvSpPr>
          <p:nvPr>
            <p:ph type="sldNum" sz="quarter" idx="12"/>
          </p:nvPr>
        </p:nvSpPr>
        <p:spPr/>
        <p:txBody>
          <a:bodyPr/>
          <a:lstStyle/>
          <a:p>
            <a:fld id="{3DEB779A-7110-4DE2-B295-CAC04DA4647A}" type="slidenum">
              <a:rPr lang="en-IN" smtClean="0"/>
              <a:t>15</a:t>
            </a:fld>
            <a:endParaRPr lang="en-IN"/>
          </a:p>
        </p:txBody>
      </p:sp>
      <p:sp>
        <p:nvSpPr>
          <p:cNvPr id="3" name="Rectangle 1">
            <a:extLst>
              <a:ext uri="{FF2B5EF4-FFF2-40B4-BE49-F238E27FC236}">
                <a16:creationId xmlns:a16="http://schemas.microsoft.com/office/drawing/2014/main" id="{DE45DB56-9136-5397-5FC5-D0FDCB875539}"/>
              </a:ext>
            </a:extLst>
          </p:cNvPr>
          <p:cNvSpPr>
            <a:spLocks noGrp="1" noChangeArrowheads="1"/>
          </p:cNvSpPr>
          <p:nvPr>
            <p:ph idx="1"/>
          </p:nvPr>
        </p:nvSpPr>
        <p:spPr bwMode="auto">
          <a:xfrm>
            <a:off x="1265903" y="1832035"/>
            <a:ext cx="1008789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system is implemented as a web-based application using the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framework.</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Python is used as the core programming language for both frontend logic and backend processing.</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User interfaces are designed to collect candidate skills manually or through resume upload.</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Resume PDFs are processed using text extraction libraries to retrieve skill-related content.</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Generative AI is integrated to generate domain-specific interview questions dynamically.</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 fallback question bank is implemented to ensure system reliability when AI services are unavailable.</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Session state management is used to track assessment progress and user responses.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Automated evaluation logic is implemented to compare user answers with correct options and calculate scores.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Performance analytics are generated using data analysis and visualization libraries.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PDF report generation is implemented to create structured assessment summaries.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Email functionality is implemented using SMTP to automatically send reports to candidates.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Assessment data is stored in Excel format for record maintenance and administrative analysis.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An admin dashboard is implemented to view assessment statistics and download reports.</a:t>
            </a:r>
          </a:p>
        </p:txBody>
      </p:sp>
    </p:spTree>
    <p:extLst>
      <p:ext uri="{BB962C8B-B14F-4D97-AF65-F5344CB8AC3E}">
        <p14:creationId xmlns:p14="http://schemas.microsoft.com/office/powerpoint/2010/main" val="4232896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1764-6887-5187-C46E-997454F5F2F5}"/>
              </a:ext>
            </a:extLst>
          </p:cNvPr>
          <p:cNvSpPr>
            <a:spLocks noGrp="1"/>
          </p:cNvSpPr>
          <p:nvPr>
            <p:ph type="title"/>
          </p:nvPr>
        </p:nvSpPr>
        <p:spPr>
          <a:xfrm>
            <a:off x="838200" y="0"/>
            <a:ext cx="10515600" cy="539443"/>
          </a:xfrm>
        </p:spPr>
        <p:txBody>
          <a:bodyPr>
            <a:normAutofit fontScale="90000"/>
          </a:bodyPr>
          <a:lstStyle/>
          <a:p>
            <a:pPr algn="ctr"/>
            <a:r>
              <a:rPr lang="en-IN" sz="4000" u="sng" dirty="0">
                <a:latin typeface="Times New Roman" panose="02020603050405020304" pitchFamily="18" charset="0"/>
                <a:cs typeface="Times New Roman" panose="02020603050405020304" pitchFamily="18" charset="0"/>
              </a:rPr>
              <a:t>SAMPLE CODE</a:t>
            </a:r>
          </a:p>
        </p:txBody>
      </p:sp>
      <p:sp>
        <p:nvSpPr>
          <p:cNvPr id="5" name="Slide Number Placeholder 4">
            <a:extLst>
              <a:ext uri="{FF2B5EF4-FFF2-40B4-BE49-F238E27FC236}">
                <a16:creationId xmlns:a16="http://schemas.microsoft.com/office/drawing/2014/main" id="{7B9970FA-8C7A-697A-C3D4-DF3F3AC02246}"/>
              </a:ext>
            </a:extLst>
          </p:cNvPr>
          <p:cNvSpPr>
            <a:spLocks noGrp="1"/>
          </p:cNvSpPr>
          <p:nvPr>
            <p:ph type="sldNum" sz="quarter" idx="12"/>
          </p:nvPr>
        </p:nvSpPr>
        <p:spPr/>
        <p:txBody>
          <a:bodyPr/>
          <a:lstStyle/>
          <a:p>
            <a:fld id="{3DEB779A-7110-4DE2-B295-CAC04DA4647A}" type="slidenum">
              <a:rPr lang="en-IN" smtClean="0"/>
              <a:t>16</a:t>
            </a:fld>
            <a:endParaRPr lang="en-IN"/>
          </a:p>
        </p:txBody>
      </p:sp>
      <p:sp>
        <p:nvSpPr>
          <p:cNvPr id="13" name="TextBox 12">
            <a:extLst>
              <a:ext uri="{FF2B5EF4-FFF2-40B4-BE49-F238E27FC236}">
                <a16:creationId xmlns:a16="http://schemas.microsoft.com/office/drawing/2014/main" id="{974D3DCA-855F-2A7D-32FC-E5C76BE61742}"/>
              </a:ext>
            </a:extLst>
          </p:cNvPr>
          <p:cNvSpPr txBox="1"/>
          <p:nvPr/>
        </p:nvSpPr>
        <p:spPr>
          <a:xfrm>
            <a:off x="3352800" y="780071"/>
            <a:ext cx="6096000" cy="5478423"/>
          </a:xfrm>
          <a:prstGeom prst="rect">
            <a:avLst/>
          </a:prstGeom>
          <a:noFill/>
        </p:spPr>
        <p:txBody>
          <a:bodyPr wrap="square">
            <a:spAutoFit/>
          </a:bodyPr>
          <a:lstStyle/>
          <a:p>
            <a:r>
              <a:rPr lang="en-IN" sz="1400" dirty="0"/>
              <a:t>import </a:t>
            </a:r>
            <a:r>
              <a:rPr lang="en-IN" sz="1400" dirty="0" err="1"/>
              <a:t>streamlit</a:t>
            </a:r>
            <a:r>
              <a:rPr lang="en-IN" sz="1400" dirty="0"/>
              <a:t> as </a:t>
            </a:r>
            <a:r>
              <a:rPr lang="en-IN" sz="1400" dirty="0" err="1"/>
              <a:t>st</a:t>
            </a:r>
            <a:endParaRPr lang="en-IN" sz="1400" dirty="0"/>
          </a:p>
          <a:p>
            <a:r>
              <a:rPr lang="en-IN" sz="1400" dirty="0"/>
              <a:t>import </a:t>
            </a:r>
            <a:r>
              <a:rPr lang="en-IN" sz="1400" dirty="0" err="1"/>
              <a:t>os</a:t>
            </a:r>
            <a:r>
              <a:rPr lang="en-IN" sz="1400" dirty="0"/>
              <a:t>, </a:t>
            </a:r>
            <a:r>
              <a:rPr lang="en-IN" sz="1400" dirty="0" err="1"/>
              <a:t>json</a:t>
            </a:r>
            <a:r>
              <a:rPr lang="en-IN" sz="1400" dirty="0"/>
              <a:t>, re, </a:t>
            </a:r>
            <a:r>
              <a:rPr lang="en-IN" sz="1400" dirty="0" err="1"/>
              <a:t>smtplib</a:t>
            </a:r>
            <a:r>
              <a:rPr lang="en-IN" sz="1400" dirty="0"/>
              <a:t>, random</a:t>
            </a:r>
          </a:p>
          <a:p>
            <a:r>
              <a:rPr lang="en-IN" sz="1400" dirty="0"/>
              <a:t>from datetime import datetime</a:t>
            </a:r>
          </a:p>
          <a:p>
            <a:r>
              <a:rPr lang="en-IN" sz="1400" dirty="0"/>
              <a:t>from </a:t>
            </a:r>
            <a:r>
              <a:rPr lang="en-IN" sz="1400" dirty="0" err="1"/>
              <a:t>email.message</a:t>
            </a:r>
            <a:r>
              <a:rPr lang="en-IN" sz="1400" dirty="0"/>
              <a:t> import </a:t>
            </a:r>
            <a:r>
              <a:rPr lang="en-IN" sz="1400" dirty="0" err="1"/>
              <a:t>EmailMessage</a:t>
            </a:r>
            <a:endParaRPr lang="en-IN" sz="1400" dirty="0"/>
          </a:p>
          <a:p>
            <a:endParaRPr lang="en-IN" sz="1400" dirty="0"/>
          </a:p>
          <a:p>
            <a:r>
              <a:rPr lang="en-IN" sz="1400" dirty="0"/>
              <a:t>import pandas as pd</a:t>
            </a:r>
          </a:p>
          <a:p>
            <a:r>
              <a:rPr lang="en-IN" sz="1400" dirty="0"/>
              <a:t>import </a:t>
            </a:r>
            <a:r>
              <a:rPr lang="en-IN" sz="1400" dirty="0" err="1"/>
              <a:t>matplotlib.pyplot</a:t>
            </a:r>
            <a:r>
              <a:rPr lang="en-IN" sz="1400" dirty="0"/>
              <a:t> as </a:t>
            </a:r>
            <a:r>
              <a:rPr lang="en-IN" sz="1400" dirty="0" err="1"/>
              <a:t>plt</a:t>
            </a:r>
            <a:endParaRPr lang="en-IN" sz="1400" dirty="0"/>
          </a:p>
          <a:p>
            <a:endParaRPr lang="en-IN" sz="1400" dirty="0"/>
          </a:p>
          <a:p>
            <a:r>
              <a:rPr lang="en-IN" sz="1400" dirty="0"/>
              <a:t>from PyPDF2 import </a:t>
            </a:r>
            <a:r>
              <a:rPr lang="en-IN" sz="1400" dirty="0" err="1"/>
              <a:t>PdfReader</a:t>
            </a:r>
            <a:endParaRPr lang="en-IN" sz="1400" dirty="0"/>
          </a:p>
          <a:p>
            <a:r>
              <a:rPr lang="en-IN" sz="1400" dirty="0"/>
              <a:t>from </a:t>
            </a:r>
            <a:r>
              <a:rPr lang="en-IN" sz="1400" dirty="0" err="1"/>
              <a:t>reportlab.platypus</a:t>
            </a:r>
            <a:r>
              <a:rPr lang="en-IN" sz="1400" dirty="0"/>
              <a:t> import </a:t>
            </a:r>
            <a:r>
              <a:rPr lang="en-IN" sz="1400" dirty="0" err="1"/>
              <a:t>SimpleDocTemplate</a:t>
            </a:r>
            <a:r>
              <a:rPr lang="en-IN" sz="1400" dirty="0"/>
              <a:t>, Paragraph, Spacer</a:t>
            </a:r>
          </a:p>
          <a:p>
            <a:r>
              <a:rPr lang="en-IN" sz="1400" dirty="0"/>
              <a:t>from </a:t>
            </a:r>
            <a:r>
              <a:rPr lang="en-IN" sz="1400" dirty="0" err="1"/>
              <a:t>reportlab.lib.styles</a:t>
            </a:r>
            <a:r>
              <a:rPr lang="en-IN" sz="1400" dirty="0"/>
              <a:t> import </a:t>
            </a:r>
            <a:r>
              <a:rPr lang="en-IN" sz="1400" dirty="0" err="1"/>
              <a:t>getSampleStyleSheet</a:t>
            </a:r>
            <a:r>
              <a:rPr lang="en-IN" sz="1400" dirty="0"/>
              <a:t>, </a:t>
            </a:r>
            <a:r>
              <a:rPr lang="en-IN" sz="1400" dirty="0" err="1"/>
              <a:t>ParagraphStyle</a:t>
            </a:r>
            <a:endParaRPr lang="en-IN" sz="1400" dirty="0"/>
          </a:p>
          <a:p>
            <a:r>
              <a:rPr lang="en-IN" sz="1400" dirty="0"/>
              <a:t>from </a:t>
            </a:r>
            <a:r>
              <a:rPr lang="en-IN" sz="1400" dirty="0" err="1"/>
              <a:t>reportlab.lib.enums</a:t>
            </a:r>
            <a:r>
              <a:rPr lang="en-IN" sz="1400" dirty="0"/>
              <a:t> import TA_CENTER</a:t>
            </a:r>
          </a:p>
          <a:p>
            <a:r>
              <a:rPr lang="en-IN" sz="1400" dirty="0"/>
              <a:t>from </a:t>
            </a:r>
            <a:r>
              <a:rPr lang="en-IN" sz="1400" dirty="0" err="1"/>
              <a:t>reportlab.lib.units</a:t>
            </a:r>
            <a:r>
              <a:rPr lang="en-IN" sz="1400" dirty="0"/>
              <a:t> import inch</a:t>
            </a:r>
          </a:p>
          <a:p>
            <a:endParaRPr lang="en-IN" sz="1400" dirty="0"/>
          </a:p>
          <a:p>
            <a:r>
              <a:rPr lang="en-IN" sz="1400" dirty="0"/>
              <a:t>from </a:t>
            </a:r>
            <a:r>
              <a:rPr lang="en-IN" sz="1400" dirty="0" err="1"/>
              <a:t>openpyxl</a:t>
            </a:r>
            <a:r>
              <a:rPr lang="en-IN" sz="1400" dirty="0"/>
              <a:t> import Workbook, </a:t>
            </a:r>
            <a:r>
              <a:rPr lang="en-IN" sz="1400" dirty="0" err="1"/>
              <a:t>load_workbook</a:t>
            </a:r>
            <a:endParaRPr lang="en-IN" sz="1400" dirty="0"/>
          </a:p>
          <a:p>
            <a:r>
              <a:rPr lang="en-IN" sz="1400" dirty="0"/>
              <a:t>from google import </a:t>
            </a:r>
            <a:r>
              <a:rPr lang="en-IN" sz="1400" dirty="0" err="1"/>
              <a:t>genai</a:t>
            </a:r>
            <a:endParaRPr lang="en-IN" sz="1400" dirty="0"/>
          </a:p>
          <a:p>
            <a:endParaRPr lang="en-IN" sz="1400" dirty="0"/>
          </a:p>
          <a:p>
            <a:r>
              <a:rPr lang="en-IN" sz="1400" dirty="0"/>
              <a:t># =====================================================</a:t>
            </a:r>
          </a:p>
          <a:p>
            <a:r>
              <a:rPr lang="en-IN" sz="1400" dirty="0"/>
              <a:t># PAGE CONFIG &amp; STYLING</a:t>
            </a:r>
          </a:p>
          <a:p>
            <a:r>
              <a:rPr lang="en-IN" sz="1400" dirty="0"/>
              <a:t># =====================================================</a:t>
            </a:r>
          </a:p>
          <a:p>
            <a:r>
              <a:rPr lang="en-IN" sz="1400" dirty="0" err="1"/>
              <a:t>st.set_page_config</a:t>
            </a:r>
            <a:r>
              <a:rPr lang="en-IN" sz="1400" dirty="0"/>
              <a:t>(</a:t>
            </a:r>
          </a:p>
          <a:p>
            <a:r>
              <a:rPr lang="en-IN" sz="1400" dirty="0"/>
              <a:t>    </a:t>
            </a:r>
            <a:r>
              <a:rPr lang="en-IN" sz="1400" dirty="0" err="1"/>
              <a:t>page_title</a:t>
            </a:r>
            <a:r>
              <a:rPr lang="en-IN" sz="1400" dirty="0"/>
              <a:t>="</a:t>
            </a:r>
            <a:r>
              <a:rPr lang="en-IN" sz="1400" dirty="0" err="1"/>
              <a:t>SkillGauge</a:t>
            </a:r>
            <a:r>
              <a:rPr lang="en-IN" sz="1400" dirty="0"/>
              <a:t> AI – Interview Assessment",</a:t>
            </a:r>
          </a:p>
          <a:p>
            <a:r>
              <a:rPr lang="en-IN" sz="1400" dirty="0"/>
              <a:t>    layout="wide",</a:t>
            </a:r>
          </a:p>
          <a:p>
            <a:r>
              <a:rPr lang="en-IN" sz="1400" dirty="0"/>
              <a:t>    </a:t>
            </a:r>
            <a:r>
              <a:rPr lang="en-IN" sz="1400" dirty="0" err="1"/>
              <a:t>initial_sidebar_state</a:t>
            </a:r>
            <a:r>
              <a:rPr lang="en-IN" sz="1400" dirty="0"/>
              <a:t>="collapsed"</a:t>
            </a:r>
          </a:p>
          <a:p>
            <a:r>
              <a:rPr lang="en-IN" sz="1400" dirty="0"/>
              <a:t>)</a:t>
            </a:r>
          </a:p>
        </p:txBody>
      </p:sp>
    </p:spTree>
    <p:extLst>
      <p:ext uri="{BB962C8B-B14F-4D97-AF65-F5344CB8AC3E}">
        <p14:creationId xmlns:p14="http://schemas.microsoft.com/office/powerpoint/2010/main" val="1484934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12EFF-4C10-1788-80A4-0E430BED6300}"/>
              </a:ext>
            </a:extLst>
          </p:cNvPr>
          <p:cNvSpPr>
            <a:spLocks noGrp="1"/>
          </p:cNvSpPr>
          <p:nvPr>
            <p:ph type="title"/>
          </p:nvPr>
        </p:nvSpPr>
        <p:spPr>
          <a:xfrm>
            <a:off x="838200" y="136525"/>
            <a:ext cx="10515600" cy="411623"/>
          </a:xfrm>
        </p:spPr>
        <p:txBody>
          <a:bodyPr>
            <a:normAutofit fontScale="90000"/>
          </a:bodyPr>
          <a:lstStyle/>
          <a:p>
            <a:pPr algn="ctr"/>
            <a:r>
              <a:rPr lang="en-IN" sz="4000" u="sng" dirty="0">
                <a:latin typeface="Times New Roman" panose="02020603050405020304" pitchFamily="18" charset="0"/>
                <a:cs typeface="Times New Roman" panose="02020603050405020304" pitchFamily="18" charset="0"/>
              </a:rPr>
              <a:t>SAMPLE CODE</a:t>
            </a:r>
            <a:endParaRPr lang="en-IN" sz="4000" dirty="0"/>
          </a:p>
        </p:txBody>
      </p:sp>
      <p:sp>
        <p:nvSpPr>
          <p:cNvPr id="5" name="Slide Number Placeholder 4">
            <a:extLst>
              <a:ext uri="{FF2B5EF4-FFF2-40B4-BE49-F238E27FC236}">
                <a16:creationId xmlns:a16="http://schemas.microsoft.com/office/drawing/2014/main" id="{1746C4A8-F99D-3ADC-B693-2C94AE88FA99}"/>
              </a:ext>
            </a:extLst>
          </p:cNvPr>
          <p:cNvSpPr>
            <a:spLocks noGrp="1"/>
          </p:cNvSpPr>
          <p:nvPr>
            <p:ph type="sldNum" sz="quarter" idx="12"/>
          </p:nvPr>
        </p:nvSpPr>
        <p:spPr/>
        <p:txBody>
          <a:bodyPr/>
          <a:lstStyle/>
          <a:p>
            <a:fld id="{3DEB779A-7110-4DE2-B295-CAC04DA4647A}" type="slidenum">
              <a:rPr lang="en-IN" smtClean="0"/>
              <a:t>17</a:t>
            </a:fld>
            <a:endParaRPr lang="en-IN"/>
          </a:p>
        </p:txBody>
      </p:sp>
      <p:sp>
        <p:nvSpPr>
          <p:cNvPr id="9" name="TextBox 8">
            <a:extLst>
              <a:ext uri="{FF2B5EF4-FFF2-40B4-BE49-F238E27FC236}">
                <a16:creationId xmlns:a16="http://schemas.microsoft.com/office/drawing/2014/main" id="{DF6F8356-9F15-49D4-6FAF-6BD5F70F8226}"/>
              </a:ext>
            </a:extLst>
          </p:cNvPr>
          <p:cNvSpPr txBox="1"/>
          <p:nvPr/>
        </p:nvSpPr>
        <p:spPr>
          <a:xfrm>
            <a:off x="3688080" y="812165"/>
            <a:ext cx="4815840" cy="5909310"/>
          </a:xfrm>
          <a:prstGeom prst="rect">
            <a:avLst/>
          </a:prstGeom>
          <a:noFill/>
        </p:spPr>
        <p:txBody>
          <a:bodyPr wrap="square">
            <a:spAutoFit/>
          </a:bodyPr>
          <a:lstStyle/>
          <a:p>
            <a:r>
              <a:rPr lang="en-IN" sz="1400" dirty="0" err="1"/>
              <a:t>st.markdown</a:t>
            </a:r>
            <a:r>
              <a:rPr lang="en-IN" sz="1400" dirty="0"/>
              <a:t>("""</a:t>
            </a:r>
          </a:p>
          <a:p>
            <a:r>
              <a:rPr lang="en-IN" sz="1400" dirty="0"/>
              <a:t>&lt;style&gt;</a:t>
            </a:r>
          </a:p>
          <a:p>
            <a:r>
              <a:rPr lang="en-IN" sz="1400" dirty="0"/>
              <a:t>* {</a:t>
            </a:r>
          </a:p>
          <a:p>
            <a:r>
              <a:rPr lang="en-IN" sz="1400" dirty="0"/>
              <a:t>    font-family: 'Segoe UI', Tahoma, Geneva, Verdana, sans-serif;</a:t>
            </a:r>
          </a:p>
          <a:p>
            <a:r>
              <a:rPr lang="en-IN" sz="1400" dirty="0"/>
              <a:t>}</a:t>
            </a:r>
          </a:p>
          <a:p>
            <a:endParaRPr lang="en-IN" sz="1400" dirty="0"/>
          </a:p>
          <a:p>
            <a:r>
              <a:rPr lang="en-IN" sz="1400" dirty="0"/>
              <a:t>html, body, [data-</a:t>
            </a:r>
            <a:r>
              <a:rPr lang="en-IN" sz="1400" dirty="0" err="1"/>
              <a:t>testid</a:t>
            </a:r>
            <a:r>
              <a:rPr lang="en-IN" sz="1400" dirty="0"/>
              <a:t>="</a:t>
            </a:r>
            <a:r>
              <a:rPr lang="en-IN" sz="1400" dirty="0" err="1"/>
              <a:t>stAppViewContainer</a:t>
            </a:r>
            <a:r>
              <a:rPr lang="en-IN" sz="1400" dirty="0"/>
              <a:t>"] {</a:t>
            </a:r>
          </a:p>
          <a:p>
            <a:r>
              <a:rPr lang="en-IN" sz="1400" dirty="0"/>
              <a:t>    background: linear-gradient(135deg, #667eea 0%, #764ba2 50%, #f093fb 100%) !important;</a:t>
            </a:r>
          </a:p>
          <a:p>
            <a:r>
              <a:rPr lang="en-IN" sz="1400" dirty="0"/>
              <a:t>    min-height: 100vh;</a:t>
            </a:r>
          </a:p>
          <a:p>
            <a:r>
              <a:rPr lang="en-IN" sz="1400" dirty="0"/>
              <a:t>}</a:t>
            </a:r>
          </a:p>
          <a:p>
            <a:endParaRPr lang="en-IN" sz="1400" dirty="0"/>
          </a:p>
          <a:p>
            <a:r>
              <a:rPr lang="en-IN" sz="1400" dirty="0"/>
              <a:t>/* Headings remain white */</a:t>
            </a:r>
          </a:p>
          <a:p>
            <a:r>
              <a:rPr lang="en-IN" sz="1400" dirty="0"/>
              <a:t>h1, h2, h3 {</a:t>
            </a:r>
          </a:p>
          <a:p>
            <a:r>
              <a:rPr lang="en-IN" sz="1400" dirty="0"/>
              <a:t>    </a:t>
            </a:r>
            <a:r>
              <a:rPr lang="en-IN" sz="1400" dirty="0" err="1"/>
              <a:t>color</a:t>
            </a:r>
            <a:r>
              <a:rPr lang="en-IN" sz="1400" dirty="0"/>
              <a:t>: #ffffff;</a:t>
            </a:r>
          </a:p>
          <a:p>
            <a:r>
              <a:rPr lang="en-IN" sz="1400" dirty="0"/>
              <a:t>    font-weight: 700;</a:t>
            </a:r>
          </a:p>
          <a:p>
            <a:r>
              <a:rPr lang="en-IN" sz="1400" dirty="0"/>
              <a:t>}</a:t>
            </a:r>
          </a:p>
          <a:p>
            <a:r>
              <a:rPr lang="en-IN" sz="1400" dirty="0"/>
              <a:t>/* -----------------------------</a:t>
            </a:r>
          </a:p>
          <a:p>
            <a:r>
              <a:rPr lang="en-IN" sz="1400" dirty="0"/>
              <a:t>   BLACK TEXT VISIBILITY FIX</a:t>
            </a:r>
          </a:p>
          <a:p>
            <a:r>
              <a:rPr lang="en-IN" sz="1400" dirty="0"/>
              <a:t>------------------------------ */</a:t>
            </a:r>
          </a:p>
          <a:p>
            <a:r>
              <a:rPr lang="en-IN" sz="1400" dirty="0"/>
              <a:t>/* Input text */</a:t>
            </a:r>
          </a:p>
          <a:p>
            <a:r>
              <a:rPr lang="en-IN" sz="1400" dirty="0"/>
              <a:t>.</a:t>
            </a:r>
            <a:r>
              <a:rPr lang="en-IN" sz="1400" dirty="0" err="1"/>
              <a:t>stTextInput</a:t>
            </a:r>
            <a:r>
              <a:rPr lang="en-IN" sz="1400" dirty="0"/>
              <a:t> input,</a:t>
            </a:r>
          </a:p>
          <a:p>
            <a:r>
              <a:rPr lang="en-IN" sz="1400" dirty="0"/>
              <a:t>.</a:t>
            </a:r>
            <a:r>
              <a:rPr lang="en-IN" sz="1400" dirty="0" err="1"/>
              <a:t>stTextArea</a:t>
            </a:r>
            <a:r>
              <a:rPr lang="en-IN" sz="1400" dirty="0"/>
              <a:t> </a:t>
            </a:r>
            <a:r>
              <a:rPr lang="en-IN" sz="1400" dirty="0" err="1"/>
              <a:t>textarea</a:t>
            </a:r>
            <a:r>
              <a:rPr lang="en-IN" sz="1400" dirty="0"/>
              <a:t>,</a:t>
            </a:r>
          </a:p>
          <a:p>
            <a:r>
              <a:rPr lang="en-IN" sz="1400" dirty="0"/>
              <a:t>.</a:t>
            </a:r>
            <a:r>
              <a:rPr lang="en-IN" sz="1400" dirty="0" err="1"/>
              <a:t>stSelectbox</a:t>
            </a:r>
            <a:r>
              <a:rPr lang="en-IN" sz="1400" dirty="0"/>
              <a:t> select {</a:t>
            </a:r>
          </a:p>
          <a:p>
            <a:r>
              <a:rPr lang="en-IN" sz="1400" dirty="0"/>
              <a:t>    </a:t>
            </a:r>
            <a:r>
              <a:rPr lang="en-IN" sz="1400" dirty="0" err="1"/>
              <a:t>color</a:t>
            </a:r>
            <a:r>
              <a:rPr lang="en-IN" sz="1400" dirty="0"/>
              <a:t>: #000000 !important;</a:t>
            </a:r>
          </a:p>
          <a:p>
            <a:r>
              <a:rPr lang="en-IN" sz="1400" dirty="0"/>
              <a:t>    background-</a:t>
            </a:r>
            <a:r>
              <a:rPr lang="en-IN" sz="1400" dirty="0" err="1"/>
              <a:t>color</a:t>
            </a:r>
            <a:r>
              <a:rPr lang="en-IN" sz="1400" dirty="0"/>
              <a:t>: </a:t>
            </a:r>
            <a:r>
              <a:rPr lang="en-IN" sz="1400" dirty="0" err="1"/>
              <a:t>rgba</a:t>
            </a:r>
            <a:r>
              <a:rPr lang="en-IN" sz="1400" dirty="0"/>
              <a:t>(255,255,255,0.85) !important;</a:t>
            </a:r>
          </a:p>
          <a:p>
            <a:r>
              <a:rPr lang="en-IN" sz="1400" dirty="0"/>
              <a:t>}</a:t>
            </a:r>
          </a:p>
        </p:txBody>
      </p:sp>
    </p:spTree>
    <p:extLst>
      <p:ext uri="{BB962C8B-B14F-4D97-AF65-F5344CB8AC3E}">
        <p14:creationId xmlns:p14="http://schemas.microsoft.com/office/powerpoint/2010/main" val="866179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4CF6-DA7B-A422-15CD-1C7DF72C2A44}"/>
              </a:ext>
            </a:extLst>
          </p:cNvPr>
          <p:cNvSpPr>
            <a:spLocks noGrp="1"/>
          </p:cNvSpPr>
          <p:nvPr>
            <p:ph type="title"/>
          </p:nvPr>
        </p:nvSpPr>
        <p:spPr>
          <a:xfrm>
            <a:off x="749709" y="57612"/>
            <a:ext cx="10515600" cy="591318"/>
          </a:xfrm>
        </p:spPr>
        <p:txBody>
          <a:bodyPr>
            <a:normAutofit fontScale="90000"/>
          </a:bodyPr>
          <a:lstStyle/>
          <a:p>
            <a:pPr algn="ctr"/>
            <a:r>
              <a:rPr lang="en-IN" dirty="0"/>
              <a:t> </a:t>
            </a:r>
            <a:r>
              <a:rPr lang="en-IN" u="sng" dirty="0">
                <a:latin typeface="Times New Roman" panose="02020603050405020304" pitchFamily="18" charset="0"/>
                <a:cs typeface="Times New Roman" panose="02020603050405020304" pitchFamily="18" charset="0"/>
              </a:rPr>
              <a:t>SAMPLE CODE</a:t>
            </a:r>
          </a:p>
        </p:txBody>
      </p:sp>
      <p:sp>
        <p:nvSpPr>
          <p:cNvPr id="5" name="Slide Number Placeholder 4">
            <a:extLst>
              <a:ext uri="{FF2B5EF4-FFF2-40B4-BE49-F238E27FC236}">
                <a16:creationId xmlns:a16="http://schemas.microsoft.com/office/drawing/2014/main" id="{A7FEE839-56D3-E297-D42C-161727CF08EE}"/>
              </a:ext>
            </a:extLst>
          </p:cNvPr>
          <p:cNvSpPr>
            <a:spLocks noGrp="1"/>
          </p:cNvSpPr>
          <p:nvPr>
            <p:ph type="sldNum" sz="quarter" idx="12"/>
          </p:nvPr>
        </p:nvSpPr>
        <p:spPr/>
        <p:txBody>
          <a:bodyPr/>
          <a:lstStyle/>
          <a:p>
            <a:fld id="{3DEB779A-7110-4DE2-B295-CAC04DA4647A}" type="slidenum">
              <a:rPr lang="en-IN" smtClean="0"/>
              <a:t>18</a:t>
            </a:fld>
            <a:endParaRPr lang="en-IN"/>
          </a:p>
        </p:txBody>
      </p:sp>
      <p:sp>
        <p:nvSpPr>
          <p:cNvPr id="9" name="TextBox 8">
            <a:extLst>
              <a:ext uri="{FF2B5EF4-FFF2-40B4-BE49-F238E27FC236}">
                <a16:creationId xmlns:a16="http://schemas.microsoft.com/office/drawing/2014/main" id="{42A43475-F4D1-9596-5742-F260ED246D76}"/>
              </a:ext>
            </a:extLst>
          </p:cNvPr>
          <p:cNvSpPr txBox="1"/>
          <p:nvPr/>
        </p:nvSpPr>
        <p:spPr>
          <a:xfrm>
            <a:off x="2959509" y="877927"/>
            <a:ext cx="6096000" cy="5478423"/>
          </a:xfrm>
          <a:prstGeom prst="rect">
            <a:avLst/>
          </a:prstGeom>
          <a:noFill/>
        </p:spPr>
        <p:txBody>
          <a:bodyPr wrap="square">
            <a:spAutoFit/>
          </a:bodyPr>
          <a:lstStyle/>
          <a:p>
            <a:r>
              <a:rPr lang="en-IN" sz="1400" dirty="0"/>
              <a:t>RESULT_DIR = "results"</a:t>
            </a:r>
          </a:p>
          <a:p>
            <a:r>
              <a:rPr lang="en-IN" sz="1400" dirty="0"/>
              <a:t>PDF_DIR = "</a:t>
            </a:r>
            <a:r>
              <a:rPr lang="en-IN" sz="1400" dirty="0" err="1"/>
              <a:t>pdf_reports</a:t>
            </a:r>
            <a:r>
              <a:rPr lang="en-IN" sz="1400" dirty="0"/>
              <a:t>"</a:t>
            </a:r>
          </a:p>
          <a:p>
            <a:r>
              <a:rPr lang="en-IN" sz="1400" dirty="0"/>
              <a:t>EXCEL_PATH = </a:t>
            </a:r>
            <a:r>
              <a:rPr lang="en-IN" sz="1400" dirty="0" err="1"/>
              <a:t>os.path.join</a:t>
            </a:r>
            <a:r>
              <a:rPr lang="en-IN" sz="1400" dirty="0"/>
              <a:t>(RESULT_DIR, "student_scores.xlsx")</a:t>
            </a:r>
          </a:p>
          <a:p>
            <a:endParaRPr lang="en-IN" sz="1400" dirty="0"/>
          </a:p>
          <a:p>
            <a:r>
              <a:rPr lang="en-IN" sz="1400" dirty="0" err="1"/>
              <a:t>os.makedirs</a:t>
            </a:r>
            <a:r>
              <a:rPr lang="en-IN" sz="1400" dirty="0"/>
              <a:t>(RESULT_DIR, </a:t>
            </a:r>
            <a:r>
              <a:rPr lang="en-IN" sz="1400" dirty="0" err="1"/>
              <a:t>exist_ok</a:t>
            </a:r>
            <a:r>
              <a:rPr lang="en-IN" sz="1400" dirty="0"/>
              <a:t>=True)</a:t>
            </a:r>
          </a:p>
          <a:p>
            <a:r>
              <a:rPr lang="en-IN" sz="1400" dirty="0" err="1"/>
              <a:t>os.makedirs</a:t>
            </a:r>
            <a:r>
              <a:rPr lang="en-IN" sz="1400" dirty="0"/>
              <a:t>(PDF_DIR, </a:t>
            </a:r>
            <a:r>
              <a:rPr lang="en-IN" sz="1400" dirty="0" err="1"/>
              <a:t>exist_ok</a:t>
            </a:r>
            <a:r>
              <a:rPr lang="en-IN" sz="1400" dirty="0"/>
              <a:t>=True)</a:t>
            </a:r>
          </a:p>
          <a:p>
            <a:endParaRPr lang="en-IN" sz="1400" dirty="0"/>
          </a:p>
          <a:p>
            <a:r>
              <a:rPr lang="en-IN" sz="1400" dirty="0"/>
              <a:t># client = </a:t>
            </a:r>
            <a:r>
              <a:rPr lang="en-IN" sz="1400" dirty="0" err="1"/>
              <a:t>genai.Client</a:t>
            </a:r>
            <a:r>
              <a:rPr lang="en-IN" sz="1400" dirty="0"/>
              <a:t>(</a:t>
            </a:r>
            <a:r>
              <a:rPr lang="en-IN" sz="1400" dirty="0" err="1"/>
              <a:t>api_key</a:t>
            </a:r>
            <a:r>
              <a:rPr lang="en-IN" sz="1400" dirty="0"/>
              <a:t>="AIzaSyCS9x37uOK1CJkgrBnDdeU93OEjUDtLtwE")</a:t>
            </a:r>
          </a:p>
          <a:p>
            <a:r>
              <a:rPr lang="en-IN" sz="1400" dirty="0"/>
              <a:t>MODEL_NAME = "models/</a:t>
            </a:r>
            <a:r>
              <a:rPr lang="en-IN" sz="1400" dirty="0" err="1"/>
              <a:t>gemini</a:t>
            </a:r>
            <a:r>
              <a:rPr lang="en-IN" sz="1400" dirty="0"/>
              <a:t>-flash-latest"</a:t>
            </a:r>
          </a:p>
          <a:p>
            <a:endParaRPr lang="en-IN" sz="1400" dirty="0"/>
          </a:p>
          <a:p>
            <a:r>
              <a:rPr lang="en-IN" sz="1400" dirty="0"/>
              <a:t>SENDER_EMAIL = "noreply.civicconnect@gmail.com"</a:t>
            </a:r>
          </a:p>
          <a:p>
            <a:r>
              <a:rPr lang="en-IN" sz="1400" dirty="0"/>
              <a:t>APP_PASSWORD = "</a:t>
            </a:r>
            <a:r>
              <a:rPr lang="en-IN" sz="1400" dirty="0" err="1"/>
              <a:t>hvpwfvoouycoaqgo</a:t>
            </a:r>
            <a:r>
              <a:rPr lang="en-IN" sz="1400" dirty="0"/>
              <a:t>"</a:t>
            </a:r>
          </a:p>
          <a:p>
            <a:endParaRPr lang="en-IN" sz="1400" dirty="0"/>
          </a:p>
          <a:p>
            <a:r>
              <a:rPr lang="en-IN" sz="1400" dirty="0"/>
              <a:t># =====================================================</a:t>
            </a:r>
          </a:p>
          <a:p>
            <a:r>
              <a:rPr lang="en-IN" sz="1400" dirty="0"/>
              <a:t># FALLBACK QUESTION BANK (50 Questions - 25 Random Selected if AI Fails)</a:t>
            </a:r>
          </a:p>
          <a:p>
            <a:r>
              <a:rPr lang="en-IN" sz="1400" dirty="0"/>
              <a:t># =====================================================</a:t>
            </a:r>
          </a:p>
          <a:p>
            <a:r>
              <a:rPr lang="en-IN" sz="1400" dirty="0"/>
              <a:t>QUESTION_BANK = [</a:t>
            </a:r>
          </a:p>
          <a:p>
            <a:r>
              <a:rPr lang="en-IN" sz="1400" dirty="0"/>
              <a:t>    # Python (7 questions)</a:t>
            </a:r>
          </a:p>
          <a:p>
            <a:r>
              <a:rPr lang="en-IN" sz="1400" dirty="0"/>
              <a:t>    {</a:t>
            </a:r>
          </a:p>
          <a:p>
            <a:r>
              <a:rPr lang="en-IN" sz="1400" dirty="0"/>
              <a:t>        "q": "What is the output of: print(type([]))",</a:t>
            </a:r>
          </a:p>
          <a:p>
            <a:r>
              <a:rPr lang="en-IN" sz="1400" dirty="0"/>
              <a:t>        "options": {"A": "&lt;class 'list'&gt;", "B": "&lt;class 'tuple'&gt;", "C": "&lt;class '</a:t>
            </a:r>
            <a:r>
              <a:rPr lang="en-IN" sz="1400" dirty="0" err="1"/>
              <a:t>dict</a:t>
            </a:r>
            <a:r>
              <a:rPr lang="en-IN" sz="1400" dirty="0"/>
              <a:t>'&gt;", "D": "&lt;class 'array'&gt;"},</a:t>
            </a:r>
          </a:p>
          <a:p>
            <a:r>
              <a:rPr lang="en-IN" sz="1400" dirty="0"/>
              <a:t>        "answer": "A",</a:t>
            </a:r>
          </a:p>
          <a:p>
            <a:r>
              <a:rPr lang="en-IN" sz="1400" dirty="0"/>
              <a:t>        "domain": "Python"</a:t>
            </a:r>
          </a:p>
          <a:p>
            <a:r>
              <a:rPr lang="en-IN" sz="1400" dirty="0"/>
              <a:t>    },</a:t>
            </a:r>
          </a:p>
        </p:txBody>
      </p:sp>
    </p:spTree>
    <p:extLst>
      <p:ext uri="{BB962C8B-B14F-4D97-AF65-F5344CB8AC3E}">
        <p14:creationId xmlns:p14="http://schemas.microsoft.com/office/powerpoint/2010/main" val="288969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DB64-0C88-13DB-3611-12CB7ED77673}"/>
              </a:ext>
            </a:extLst>
          </p:cNvPr>
          <p:cNvSpPr>
            <a:spLocks noGrp="1"/>
          </p:cNvSpPr>
          <p:nvPr>
            <p:ph type="title"/>
          </p:nvPr>
        </p:nvSpPr>
        <p:spPr>
          <a:xfrm>
            <a:off x="1123335" y="207809"/>
            <a:ext cx="10515600" cy="315912"/>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SAMPLE CODE</a:t>
            </a:r>
            <a:endParaRPr lang="en-IN" u="sng" dirty="0"/>
          </a:p>
        </p:txBody>
      </p:sp>
      <p:sp>
        <p:nvSpPr>
          <p:cNvPr id="5" name="Slide Number Placeholder 4">
            <a:extLst>
              <a:ext uri="{FF2B5EF4-FFF2-40B4-BE49-F238E27FC236}">
                <a16:creationId xmlns:a16="http://schemas.microsoft.com/office/drawing/2014/main" id="{A043B9C5-E226-D866-D8C9-F2DEEE91F0DE}"/>
              </a:ext>
            </a:extLst>
          </p:cNvPr>
          <p:cNvSpPr>
            <a:spLocks noGrp="1"/>
          </p:cNvSpPr>
          <p:nvPr>
            <p:ph type="sldNum" sz="quarter" idx="12"/>
          </p:nvPr>
        </p:nvSpPr>
        <p:spPr/>
        <p:txBody>
          <a:bodyPr/>
          <a:lstStyle/>
          <a:p>
            <a:fld id="{3DEB779A-7110-4DE2-B295-CAC04DA4647A}" type="slidenum">
              <a:rPr lang="en-IN" smtClean="0"/>
              <a:t>19</a:t>
            </a:fld>
            <a:endParaRPr lang="en-IN"/>
          </a:p>
        </p:txBody>
      </p:sp>
      <p:sp>
        <p:nvSpPr>
          <p:cNvPr id="11" name="TextBox 10">
            <a:extLst>
              <a:ext uri="{FF2B5EF4-FFF2-40B4-BE49-F238E27FC236}">
                <a16:creationId xmlns:a16="http://schemas.microsoft.com/office/drawing/2014/main" id="{7BDEC5BC-2D53-CEF6-A18B-AEBF0E7EF93F}"/>
              </a:ext>
            </a:extLst>
          </p:cNvPr>
          <p:cNvSpPr txBox="1"/>
          <p:nvPr/>
        </p:nvSpPr>
        <p:spPr>
          <a:xfrm>
            <a:off x="3581401" y="1093371"/>
            <a:ext cx="6096000" cy="5262979"/>
          </a:xfrm>
          <a:prstGeom prst="rect">
            <a:avLst/>
          </a:prstGeom>
          <a:noFill/>
        </p:spPr>
        <p:txBody>
          <a:bodyPr wrap="square">
            <a:spAutoFit/>
          </a:bodyPr>
          <a:lstStyle/>
          <a:p>
            <a:r>
              <a:rPr lang="en-IN" sz="1400" dirty="0"/>
              <a:t>if "step" not in </a:t>
            </a:r>
            <a:r>
              <a:rPr lang="en-IN" sz="1400" dirty="0" err="1"/>
              <a:t>st.session_state</a:t>
            </a:r>
            <a:r>
              <a:rPr lang="en-IN" sz="1400" dirty="0"/>
              <a:t>:</a:t>
            </a:r>
          </a:p>
          <a:p>
            <a:r>
              <a:rPr lang="en-IN" sz="1400" dirty="0"/>
              <a:t>    </a:t>
            </a:r>
            <a:r>
              <a:rPr lang="en-IN" sz="1400" dirty="0" err="1"/>
              <a:t>st.session_state.update</a:t>
            </a:r>
            <a:r>
              <a:rPr lang="en-IN" sz="1400" dirty="0"/>
              <a:t>({</a:t>
            </a:r>
          </a:p>
          <a:p>
            <a:r>
              <a:rPr lang="en-IN" sz="1400" dirty="0"/>
              <a:t>        "step": 0,</a:t>
            </a:r>
          </a:p>
          <a:p>
            <a:r>
              <a:rPr lang="en-IN" sz="1400" dirty="0"/>
              <a:t>        "</a:t>
            </a:r>
            <a:r>
              <a:rPr lang="en-IN" sz="1400" dirty="0" err="1"/>
              <a:t>mcqs</a:t>
            </a:r>
            <a:r>
              <a:rPr lang="en-IN" sz="1400" dirty="0"/>
              <a:t>": [],</a:t>
            </a:r>
          </a:p>
          <a:p>
            <a:r>
              <a:rPr lang="en-IN" sz="1400" dirty="0"/>
              <a:t>        "answers": {},</a:t>
            </a:r>
          </a:p>
          <a:p>
            <a:r>
              <a:rPr lang="en-IN" sz="1400" dirty="0"/>
              <a:t>        "score": 0,</a:t>
            </a:r>
          </a:p>
          <a:p>
            <a:r>
              <a:rPr lang="en-IN" sz="1400" dirty="0"/>
              <a:t>        "email": "",</a:t>
            </a:r>
          </a:p>
          <a:p>
            <a:r>
              <a:rPr lang="en-IN" sz="1400" dirty="0"/>
              <a:t>        "evaluated": False,</a:t>
            </a:r>
          </a:p>
          <a:p>
            <a:r>
              <a:rPr lang="en-IN" sz="1400" dirty="0"/>
              <a:t>        "</a:t>
            </a:r>
            <a:r>
              <a:rPr lang="en-IN" sz="1400" dirty="0" err="1"/>
              <a:t>admin_logged</a:t>
            </a:r>
            <a:r>
              <a:rPr lang="en-IN" sz="1400" dirty="0"/>
              <a:t>": False,</a:t>
            </a:r>
          </a:p>
          <a:p>
            <a:r>
              <a:rPr lang="en-IN" sz="1400" dirty="0"/>
              <a:t>        "</a:t>
            </a:r>
            <a:r>
              <a:rPr lang="en-IN" sz="1400" dirty="0" err="1"/>
              <a:t>ai_used</a:t>
            </a:r>
            <a:r>
              <a:rPr lang="en-IN" sz="1400" dirty="0"/>
              <a:t>": False  # Track if AI or fallback was used</a:t>
            </a:r>
          </a:p>
          <a:p>
            <a:r>
              <a:rPr lang="en-IN" sz="1400" dirty="0"/>
              <a:t>    })</a:t>
            </a:r>
          </a:p>
          <a:p>
            <a:r>
              <a:rPr lang="en-IN" sz="1400" dirty="0"/>
              <a:t>def </a:t>
            </a:r>
            <a:r>
              <a:rPr lang="en-IN" sz="1400" dirty="0" err="1"/>
              <a:t>extract_json_flexible</a:t>
            </a:r>
            <a:r>
              <a:rPr lang="en-IN" sz="1400" dirty="0"/>
              <a:t>(text):</a:t>
            </a:r>
          </a:p>
          <a:p>
            <a:r>
              <a:rPr lang="en-IN" sz="1400" dirty="0"/>
              <a:t>    text = </a:t>
            </a:r>
            <a:r>
              <a:rPr lang="en-IN" sz="1400" dirty="0" err="1"/>
              <a:t>re.sub</a:t>
            </a:r>
            <a:r>
              <a:rPr lang="en-IN" sz="1400" dirty="0"/>
              <a:t>(r"```</a:t>
            </a:r>
            <a:r>
              <a:rPr lang="en-IN" sz="1400" dirty="0" err="1"/>
              <a:t>json</a:t>
            </a:r>
            <a:r>
              <a:rPr lang="en-IN" sz="1400" dirty="0"/>
              <a:t>|```", "", text).strip()</a:t>
            </a:r>
          </a:p>
          <a:p>
            <a:endParaRPr lang="en-IN" sz="1400" dirty="0"/>
          </a:p>
          <a:p>
            <a:r>
              <a:rPr lang="en-IN" sz="1400" dirty="0"/>
              <a:t>    # Try direct JSON</a:t>
            </a:r>
          </a:p>
          <a:p>
            <a:r>
              <a:rPr lang="en-IN" sz="1400" dirty="0"/>
              <a:t>    try:</a:t>
            </a:r>
          </a:p>
          <a:p>
            <a:r>
              <a:rPr lang="en-IN" sz="1400" dirty="0"/>
              <a:t>        data = </a:t>
            </a:r>
            <a:r>
              <a:rPr lang="en-IN" sz="1400" dirty="0" err="1"/>
              <a:t>json.loads</a:t>
            </a:r>
            <a:r>
              <a:rPr lang="en-IN" sz="1400" dirty="0"/>
              <a:t>(text)</a:t>
            </a:r>
          </a:p>
          <a:p>
            <a:r>
              <a:rPr lang="en-IN" sz="1400" dirty="0"/>
              <a:t>        if </a:t>
            </a:r>
            <a:r>
              <a:rPr lang="en-IN" sz="1400" dirty="0" err="1"/>
              <a:t>isinstance</a:t>
            </a:r>
            <a:r>
              <a:rPr lang="en-IN" sz="1400" dirty="0"/>
              <a:t>(data, list):</a:t>
            </a:r>
          </a:p>
          <a:p>
            <a:r>
              <a:rPr lang="en-IN" sz="1400" dirty="0"/>
              <a:t>            return data</a:t>
            </a:r>
          </a:p>
          <a:p>
            <a:r>
              <a:rPr lang="en-IN" sz="1400" dirty="0"/>
              <a:t>        if </a:t>
            </a:r>
            <a:r>
              <a:rPr lang="en-IN" sz="1400" dirty="0" err="1"/>
              <a:t>isinstance</a:t>
            </a:r>
            <a:r>
              <a:rPr lang="en-IN" sz="1400" dirty="0"/>
              <a:t>(data, </a:t>
            </a:r>
            <a:r>
              <a:rPr lang="en-IN" sz="1400" dirty="0" err="1"/>
              <a:t>dict</a:t>
            </a:r>
            <a:r>
              <a:rPr lang="en-IN" sz="1400" dirty="0"/>
              <a:t>):</a:t>
            </a:r>
          </a:p>
          <a:p>
            <a:r>
              <a:rPr lang="en-IN" sz="1400" dirty="0"/>
              <a:t>            for k in ("</a:t>
            </a:r>
            <a:r>
              <a:rPr lang="en-IN" sz="1400" dirty="0" err="1"/>
              <a:t>mcqs</a:t>
            </a:r>
            <a:r>
              <a:rPr lang="en-IN" sz="1400" dirty="0"/>
              <a:t>", "questions"):</a:t>
            </a:r>
          </a:p>
          <a:p>
            <a:r>
              <a:rPr lang="en-IN" sz="1400" dirty="0"/>
              <a:t>                if k in data and </a:t>
            </a:r>
            <a:r>
              <a:rPr lang="en-IN" sz="1400" dirty="0" err="1"/>
              <a:t>isinstance</a:t>
            </a:r>
            <a:r>
              <a:rPr lang="en-IN" sz="1400" dirty="0"/>
              <a:t>(data[k], list):</a:t>
            </a:r>
          </a:p>
          <a:p>
            <a:r>
              <a:rPr lang="en-IN" sz="1400" dirty="0"/>
              <a:t>                    return data[k]</a:t>
            </a:r>
          </a:p>
          <a:p>
            <a:endParaRPr lang="en-IN" sz="1400" dirty="0"/>
          </a:p>
        </p:txBody>
      </p:sp>
    </p:spTree>
    <p:extLst>
      <p:ext uri="{BB962C8B-B14F-4D97-AF65-F5344CB8AC3E}">
        <p14:creationId xmlns:p14="http://schemas.microsoft.com/office/powerpoint/2010/main" val="255806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F2E68-FCF7-56EA-8B99-492FB2C2D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06582-873A-CC58-BA2C-B5370AFD7CC0}"/>
              </a:ext>
            </a:extLst>
          </p:cNvPr>
          <p:cNvSpPr>
            <a:spLocks noGrp="1"/>
          </p:cNvSpPr>
          <p:nvPr>
            <p:ph type="title"/>
          </p:nvPr>
        </p:nvSpPr>
        <p:spPr>
          <a:xfrm>
            <a:off x="1123335" y="207809"/>
            <a:ext cx="10515600" cy="315912"/>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SAMPLE CODE</a:t>
            </a:r>
            <a:endParaRPr lang="en-IN" u="sng" dirty="0"/>
          </a:p>
        </p:txBody>
      </p:sp>
      <p:sp>
        <p:nvSpPr>
          <p:cNvPr id="5" name="Slide Number Placeholder 4">
            <a:extLst>
              <a:ext uri="{FF2B5EF4-FFF2-40B4-BE49-F238E27FC236}">
                <a16:creationId xmlns:a16="http://schemas.microsoft.com/office/drawing/2014/main" id="{C4C9E6BD-214A-BE61-E2A4-AA1B1CFC5418}"/>
              </a:ext>
            </a:extLst>
          </p:cNvPr>
          <p:cNvSpPr>
            <a:spLocks noGrp="1"/>
          </p:cNvSpPr>
          <p:nvPr>
            <p:ph type="sldNum" sz="quarter" idx="12"/>
          </p:nvPr>
        </p:nvSpPr>
        <p:spPr/>
        <p:txBody>
          <a:bodyPr/>
          <a:lstStyle/>
          <a:p>
            <a:fld id="{3DEB779A-7110-4DE2-B295-CAC04DA4647A}" type="slidenum">
              <a:rPr lang="en-IN" smtClean="0"/>
              <a:t>20</a:t>
            </a:fld>
            <a:endParaRPr lang="en-IN"/>
          </a:p>
        </p:txBody>
      </p:sp>
      <p:sp>
        <p:nvSpPr>
          <p:cNvPr id="9" name="TextBox 8">
            <a:extLst>
              <a:ext uri="{FF2B5EF4-FFF2-40B4-BE49-F238E27FC236}">
                <a16:creationId xmlns:a16="http://schemas.microsoft.com/office/drawing/2014/main" id="{06141726-C867-D710-A93B-4BF29BE2FE9B}"/>
              </a:ext>
            </a:extLst>
          </p:cNvPr>
          <p:cNvSpPr txBox="1"/>
          <p:nvPr/>
        </p:nvSpPr>
        <p:spPr>
          <a:xfrm>
            <a:off x="3048000" y="740881"/>
            <a:ext cx="6096000" cy="5909310"/>
          </a:xfrm>
          <a:prstGeom prst="rect">
            <a:avLst/>
          </a:prstGeom>
          <a:noFill/>
        </p:spPr>
        <p:txBody>
          <a:bodyPr wrap="square">
            <a:spAutoFit/>
          </a:bodyPr>
          <a:lstStyle/>
          <a:p>
            <a:r>
              <a:rPr lang="en-IN" sz="1400" dirty="0"/>
              <a:t>    return None</a:t>
            </a:r>
          </a:p>
          <a:p>
            <a:r>
              <a:rPr lang="en-IN" sz="1400" dirty="0"/>
              <a:t>def </a:t>
            </a:r>
            <a:r>
              <a:rPr lang="en-IN" sz="1400" dirty="0" err="1"/>
              <a:t>extract_mcqs</a:t>
            </a:r>
            <a:r>
              <a:rPr lang="en-IN" sz="1400" dirty="0"/>
              <a:t>(parsed):</a:t>
            </a:r>
          </a:p>
          <a:p>
            <a:r>
              <a:rPr lang="en-IN" sz="1400" dirty="0"/>
              <a:t>    if </a:t>
            </a:r>
            <a:r>
              <a:rPr lang="en-IN" sz="1400" dirty="0" err="1"/>
              <a:t>isinstance</a:t>
            </a:r>
            <a:r>
              <a:rPr lang="en-IN" sz="1400" dirty="0"/>
              <a:t>(parsed, </a:t>
            </a:r>
            <a:r>
              <a:rPr lang="en-IN" sz="1400" dirty="0" err="1"/>
              <a:t>dict</a:t>
            </a:r>
            <a:r>
              <a:rPr lang="en-IN" sz="1400" dirty="0"/>
              <a:t>):</a:t>
            </a:r>
          </a:p>
          <a:p>
            <a:r>
              <a:rPr lang="en-IN" sz="1400" dirty="0"/>
              <a:t>return None</a:t>
            </a:r>
          </a:p>
          <a:p>
            <a:r>
              <a:rPr lang="en-IN" sz="1400" dirty="0"/>
              <a:t>def </a:t>
            </a:r>
            <a:r>
              <a:rPr lang="en-IN" sz="1400" dirty="0" err="1"/>
              <a:t>send_email_report</a:t>
            </a:r>
            <a:r>
              <a:rPr lang="en-IN" sz="1400" dirty="0"/>
              <a:t>(</a:t>
            </a:r>
            <a:r>
              <a:rPr lang="en-IN" sz="1400" dirty="0" err="1"/>
              <a:t>recipient_email</a:t>
            </a:r>
            <a:r>
              <a:rPr lang="en-IN" sz="1400" dirty="0"/>
              <a:t>, </a:t>
            </a:r>
            <a:r>
              <a:rPr lang="en-IN" sz="1400" dirty="0" err="1"/>
              <a:t>pdf_path</a:t>
            </a:r>
            <a:r>
              <a:rPr lang="en-IN" sz="1400" dirty="0"/>
              <a:t>, </a:t>
            </a:r>
            <a:r>
              <a:rPr lang="en-IN" sz="1400" dirty="0" err="1"/>
              <a:t>student_name</a:t>
            </a:r>
            <a:r>
              <a:rPr lang="en-IN" sz="1400" dirty="0"/>
              <a:t>="Student"):</a:t>
            </a:r>
          </a:p>
          <a:p>
            <a:r>
              <a:rPr lang="en-IN" sz="1400" dirty="0"/>
              <a:t>    """Send assessment report via email"""</a:t>
            </a:r>
          </a:p>
          <a:p>
            <a:r>
              <a:rPr lang="en-IN" sz="1400" dirty="0"/>
              <a:t>    try:</a:t>
            </a:r>
          </a:p>
          <a:p>
            <a:r>
              <a:rPr lang="en-IN" sz="1400" dirty="0"/>
              <a:t>        </a:t>
            </a:r>
            <a:r>
              <a:rPr lang="en-IN" sz="1400" dirty="0" err="1"/>
              <a:t>msg</a:t>
            </a:r>
            <a:r>
              <a:rPr lang="en-IN" sz="1400" dirty="0"/>
              <a:t> = </a:t>
            </a:r>
            <a:r>
              <a:rPr lang="en-IN" sz="1400" dirty="0" err="1"/>
              <a:t>EmailMessage</a:t>
            </a:r>
            <a:r>
              <a:rPr lang="en-IN" sz="1400" dirty="0"/>
              <a:t>()</a:t>
            </a:r>
          </a:p>
          <a:p>
            <a:r>
              <a:rPr lang="en-IN" sz="1400" dirty="0"/>
              <a:t>        </a:t>
            </a:r>
            <a:r>
              <a:rPr lang="en-IN" sz="1400" dirty="0" err="1"/>
              <a:t>msg</a:t>
            </a:r>
            <a:r>
              <a:rPr lang="en-IN" sz="1400" dirty="0"/>
              <a:t>['Subject'] = "Your </a:t>
            </a:r>
            <a:r>
              <a:rPr lang="en-IN" sz="1400" dirty="0" err="1"/>
              <a:t>SkillGauge</a:t>
            </a:r>
            <a:r>
              <a:rPr lang="en-IN" sz="1400" dirty="0"/>
              <a:t> AI Assessment Report"</a:t>
            </a:r>
          </a:p>
          <a:p>
            <a:r>
              <a:rPr lang="en-IN" sz="1400" dirty="0"/>
              <a:t>        </a:t>
            </a:r>
            <a:r>
              <a:rPr lang="en-IN" sz="1400" dirty="0" err="1"/>
              <a:t>msg</a:t>
            </a:r>
            <a:r>
              <a:rPr lang="en-IN" sz="1400" dirty="0"/>
              <a:t>['From'] = SENDER_EMAIL</a:t>
            </a:r>
          </a:p>
          <a:p>
            <a:r>
              <a:rPr lang="en-IN" sz="1400" dirty="0"/>
              <a:t>        </a:t>
            </a:r>
            <a:r>
              <a:rPr lang="en-IN" sz="1400" dirty="0" err="1"/>
              <a:t>msg</a:t>
            </a:r>
            <a:r>
              <a:rPr lang="en-IN" sz="1400" dirty="0"/>
              <a:t>['To'] = </a:t>
            </a:r>
            <a:r>
              <a:rPr lang="en-IN" sz="1400" dirty="0" err="1"/>
              <a:t>recipient_email</a:t>
            </a:r>
            <a:endParaRPr lang="en-IN" sz="1400" dirty="0"/>
          </a:p>
          <a:p>
            <a:r>
              <a:rPr lang="en-IN" sz="1400" dirty="0"/>
              <a:t>        </a:t>
            </a:r>
          </a:p>
          <a:p>
            <a:r>
              <a:rPr lang="en-IN" sz="1400" dirty="0"/>
              <a:t>        body = f"""</a:t>
            </a:r>
          </a:p>
          <a:p>
            <a:r>
              <a:rPr lang="en-IN" sz="1400" dirty="0"/>
              <a:t>Hi {</a:t>
            </a:r>
            <a:r>
              <a:rPr lang="en-IN" sz="1400" dirty="0" err="1"/>
              <a:t>student_name</a:t>
            </a:r>
            <a:r>
              <a:rPr lang="en-IN" sz="1400" dirty="0"/>
              <a:t>},</a:t>
            </a:r>
          </a:p>
          <a:p>
            <a:endParaRPr lang="en-IN" sz="1400" dirty="0"/>
          </a:p>
          <a:p>
            <a:r>
              <a:rPr lang="en-IN" sz="1400" dirty="0"/>
              <a:t>Thank you for completing your </a:t>
            </a:r>
            <a:r>
              <a:rPr lang="en-IN" sz="1400" dirty="0" err="1"/>
              <a:t>SkillGauge</a:t>
            </a:r>
            <a:r>
              <a:rPr lang="en-IN" sz="1400" dirty="0"/>
              <a:t> AI Assessment!</a:t>
            </a:r>
          </a:p>
          <a:p>
            <a:r>
              <a:rPr lang="en-IN" sz="1400" dirty="0"/>
              <a:t>Your personalized interview assessment report is attached. This report includes:</a:t>
            </a:r>
          </a:p>
          <a:p>
            <a:r>
              <a:rPr lang="en-IN" sz="1400" dirty="0"/>
              <a:t>- Questions asked</a:t>
            </a:r>
          </a:p>
          <a:p>
            <a:r>
              <a:rPr lang="en-IN" sz="1400" dirty="0"/>
              <a:t>- Your answers</a:t>
            </a:r>
          </a:p>
          <a:p>
            <a:r>
              <a:rPr lang="en-IN" sz="1400" dirty="0"/>
              <a:t>- Correct answers</a:t>
            </a:r>
          </a:p>
          <a:p>
            <a:r>
              <a:rPr lang="en-IN" sz="1400" dirty="0"/>
              <a:t>- Overall score and performance analysis</a:t>
            </a:r>
          </a:p>
          <a:p>
            <a:r>
              <a:rPr lang="en-IN" sz="1400" dirty="0"/>
              <a:t>We hope this helps you prepare for your interview. If you have any questions, please feel free to reach out.</a:t>
            </a:r>
          </a:p>
          <a:p>
            <a:r>
              <a:rPr lang="en-IN" sz="1400" dirty="0"/>
              <a:t>Best regards,</a:t>
            </a:r>
          </a:p>
          <a:p>
            <a:r>
              <a:rPr lang="en-IN" sz="1400" dirty="0" err="1"/>
              <a:t>SkillGauge</a:t>
            </a:r>
            <a:r>
              <a:rPr lang="en-IN" sz="1400" dirty="0"/>
              <a:t> AI Team</a:t>
            </a:r>
          </a:p>
          <a:p>
            <a:r>
              <a:rPr lang="en-IN" sz="1400" dirty="0"/>
              <a:t>"""</a:t>
            </a:r>
          </a:p>
          <a:p>
            <a:r>
              <a:rPr lang="en-IN" sz="1400" dirty="0"/>
              <a:t>        </a:t>
            </a:r>
            <a:r>
              <a:rPr lang="en-IN" sz="1400" dirty="0" err="1"/>
              <a:t>msg.set_content</a:t>
            </a:r>
            <a:r>
              <a:rPr lang="en-IN" sz="1400" dirty="0"/>
              <a:t>(body)</a:t>
            </a:r>
          </a:p>
        </p:txBody>
      </p:sp>
    </p:spTree>
    <p:extLst>
      <p:ext uri="{BB962C8B-B14F-4D97-AF65-F5344CB8AC3E}">
        <p14:creationId xmlns:p14="http://schemas.microsoft.com/office/powerpoint/2010/main" val="294178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3E22-B686-A477-5EE6-C2C77F9F6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45749-6703-3B81-4D13-CC031B5EEC40}"/>
              </a:ext>
            </a:extLst>
          </p:cNvPr>
          <p:cNvSpPr>
            <a:spLocks noGrp="1"/>
          </p:cNvSpPr>
          <p:nvPr>
            <p:ph type="title"/>
          </p:nvPr>
        </p:nvSpPr>
        <p:spPr>
          <a:xfrm>
            <a:off x="1123335" y="207809"/>
            <a:ext cx="10515600" cy="315912"/>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SAMPLE CODE</a:t>
            </a:r>
            <a:endParaRPr lang="en-IN" u="sng" dirty="0"/>
          </a:p>
        </p:txBody>
      </p:sp>
      <p:sp>
        <p:nvSpPr>
          <p:cNvPr id="5" name="Slide Number Placeholder 4">
            <a:extLst>
              <a:ext uri="{FF2B5EF4-FFF2-40B4-BE49-F238E27FC236}">
                <a16:creationId xmlns:a16="http://schemas.microsoft.com/office/drawing/2014/main" id="{1C988B3B-0420-F65A-8B8A-B1D9A16FD3E5}"/>
              </a:ext>
            </a:extLst>
          </p:cNvPr>
          <p:cNvSpPr>
            <a:spLocks noGrp="1"/>
          </p:cNvSpPr>
          <p:nvPr>
            <p:ph type="sldNum" sz="quarter" idx="12"/>
          </p:nvPr>
        </p:nvSpPr>
        <p:spPr/>
        <p:txBody>
          <a:bodyPr/>
          <a:lstStyle/>
          <a:p>
            <a:fld id="{3DEB779A-7110-4DE2-B295-CAC04DA4647A}" type="slidenum">
              <a:rPr lang="en-IN" smtClean="0"/>
              <a:t>21</a:t>
            </a:fld>
            <a:endParaRPr lang="en-IN"/>
          </a:p>
        </p:txBody>
      </p:sp>
      <p:sp>
        <p:nvSpPr>
          <p:cNvPr id="9" name="TextBox 8">
            <a:extLst>
              <a:ext uri="{FF2B5EF4-FFF2-40B4-BE49-F238E27FC236}">
                <a16:creationId xmlns:a16="http://schemas.microsoft.com/office/drawing/2014/main" id="{621BE0FB-358E-D033-075F-5BDC76D65FA4}"/>
              </a:ext>
            </a:extLst>
          </p:cNvPr>
          <p:cNvSpPr txBox="1"/>
          <p:nvPr/>
        </p:nvSpPr>
        <p:spPr>
          <a:xfrm>
            <a:off x="3333135" y="871133"/>
            <a:ext cx="6096000" cy="6093976"/>
          </a:xfrm>
          <a:prstGeom prst="rect">
            <a:avLst/>
          </a:prstGeom>
          <a:noFill/>
        </p:spPr>
        <p:txBody>
          <a:bodyPr wrap="square">
            <a:spAutoFit/>
          </a:bodyPr>
          <a:lstStyle/>
          <a:p>
            <a:r>
              <a:rPr lang="en-IN" sz="1300" dirty="0" err="1"/>
              <a:t>st.subheader</a:t>
            </a:r>
            <a:r>
              <a:rPr lang="en-IN" sz="1300" dirty="0"/>
              <a:t>("Answer Review")</a:t>
            </a:r>
          </a:p>
          <a:p>
            <a:r>
              <a:rPr lang="en-IN" sz="1300" dirty="0"/>
              <a:t>        correct = 0</a:t>
            </a:r>
          </a:p>
          <a:p>
            <a:r>
              <a:rPr lang="en-IN" sz="1300" dirty="0"/>
              <a:t>        for </a:t>
            </a:r>
            <a:r>
              <a:rPr lang="en-IN" sz="1300" dirty="0" err="1"/>
              <a:t>i</a:t>
            </a:r>
            <a:r>
              <a:rPr lang="en-IN" sz="1300" dirty="0"/>
              <a:t>, q in enumerate(</a:t>
            </a:r>
            <a:r>
              <a:rPr lang="en-IN" sz="1300" dirty="0" err="1"/>
              <a:t>st.session_state.mcqs</a:t>
            </a:r>
            <a:r>
              <a:rPr lang="en-IN" sz="1300" dirty="0"/>
              <a:t>, 1):</a:t>
            </a:r>
          </a:p>
          <a:p>
            <a:r>
              <a:rPr lang="en-IN" sz="1300" dirty="0"/>
              <a:t>            </a:t>
            </a:r>
            <a:r>
              <a:rPr lang="en-IN" sz="1300" dirty="0" err="1"/>
              <a:t>user_ans</a:t>
            </a:r>
            <a:r>
              <a:rPr lang="en-IN" sz="1300" dirty="0"/>
              <a:t> = </a:t>
            </a:r>
            <a:r>
              <a:rPr lang="en-IN" sz="1300" dirty="0" err="1"/>
              <a:t>st.session_state.answers.get</a:t>
            </a:r>
            <a:r>
              <a:rPr lang="en-IN" sz="1300" dirty="0"/>
              <a:t>(</a:t>
            </a:r>
            <a:r>
              <a:rPr lang="en-IN" sz="1300" dirty="0" err="1"/>
              <a:t>i</a:t>
            </a:r>
            <a:r>
              <a:rPr lang="en-IN" sz="1300" dirty="0"/>
              <a:t>)</a:t>
            </a:r>
          </a:p>
          <a:p>
            <a:r>
              <a:rPr lang="en-IN" sz="1300" dirty="0"/>
              <a:t>            </a:t>
            </a:r>
            <a:r>
              <a:rPr lang="en-IN" sz="1300" dirty="0" err="1"/>
              <a:t>correct_ans</a:t>
            </a:r>
            <a:r>
              <a:rPr lang="en-IN" sz="1300" dirty="0"/>
              <a:t> = q["answer"]</a:t>
            </a:r>
          </a:p>
          <a:p>
            <a:r>
              <a:rPr lang="en-IN" sz="1300" dirty="0"/>
              <a:t>            </a:t>
            </a:r>
            <a:r>
              <a:rPr lang="en-IN" sz="1300" dirty="0" err="1"/>
              <a:t>is_correct</a:t>
            </a:r>
            <a:r>
              <a:rPr lang="en-IN" sz="1300" dirty="0"/>
              <a:t> = </a:t>
            </a:r>
            <a:r>
              <a:rPr lang="en-IN" sz="1300" dirty="0" err="1"/>
              <a:t>user_ans</a:t>
            </a:r>
            <a:r>
              <a:rPr lang="en-IN" sz="1300" dirty="0"/>
              <a:t> == </a:t>
            </a:r>
            <a:r>
              <a:rPr lang="en-IN" sz="1300" dirty="0" err="1"/>
              <a:t>correct_ans</a:t>
            </a:r>
            <a:r>
              <a:rPr lang="en-IN" sz="1300" dirty="0"/>
              <a:t>    </a:t>
            </a:r>
          </a:p>
          <a:p>
            <a:r>
              <a:rPr lang="en-IN" sz="1300" dirty="0"/>
              <a:t>            if </a:t>
            </a:r>
            <a:r>
              <a:rPr lang="en-IN" sz="1300" dirty="0" err="1"/>
              <a:t>is_correct</a:t>
            </a:r>
            <a:r>
              <a:rPr lang="en-IN" sz="1300" dirty="0"/>
              <a:t>:</a:t>
            </a:r>
          </a:p>
          <a:p>
            <a:r>
              <a:rPr lang="en-IN" sz="1300" dirty="0"/>
              <a:t>                </a:t>
            </a:r>
            <a:r>
              <a:rPr lang="en-IN" sz="1300" dirty="0" err="1"/>
              <a:t>st.success</a:t>
            </a:r>
            <a:r>
              <a:rPr lang="en-IN" sz="1300" dirty="0"/>
              <a:t>(</a:t>
            </a:r>
            <a:r>
              <a:rPr lang="en-IN" sz="1300" dirty="0" err="1"/>
              <a:t>f"Q</a:t>
            </a:r>
            <a:r>
              <a:rPr lang="en-IN" sz="1300" dirty="0"/>
              <a:t>{</a:t>
            </a:r>
            <a:r>
              <a:rPr lang="en-IN" sz="1300" dirty="0" err="1"/>
              <a:t>i</a:t>
            </a:r>
            <a:r>
              <a:rPr lang="en-IN" sz="1300" dirty="0"/>
              <a:t>}: ✓ Correct")</a:t>
            </a:r>
          </a:p>
          <a:p>
            <a:r>
              <a:rPr lang="en-IN" sz="1300" dirty="0"/>
              <a:t>            else:</a:t>
            </a:r>
          </a:p>
          <a:p>
            <a:r>
              <a:rPr lang="en-IN" sz="1300" dirty="0"/>
              <a:t>                </a:t>
            </a:r>
            <a:r>
              <a:rPr lang="en-IN" sz="1300" dirty="0" err="1"/>
              <a:t>st.error</a:t>
            </a:r>
            <a:r>
              <a:rPr lang="en-IN" sz="1300" dirty="0"/>
              <a:t>(</a:t>
            </a:r>
            <a:r>
              <a:rPr lang="en-IN" sz="1300" dirty="0" err="1"/>
              <a:t>f"Q</a:t>
            </a:r>
            <a:r>
              <a:rPr lang="en-IN" sz="1300" dirty="0"/>
              <a:t>{</a:t>
            </a:r>
            <a:r>
              <a:rPr lang="en-IN" sz="1300" dirty="0" err="1"/>
              <a:t>i</a:t>
            </a:r>
            <a:r>
              <a:rPr lang="en-IN" sz="1300" dirty="0"/>
              <a:t>}: ✗ Wrong (Your: {</a:t>
            </a:r>
            <a:r>
              <a:rPr lang="en-IN" sz="1300" dirty="0" err="1"/>
              <a:t>user_ans</a:t>
            </a:r>
            <a:r>
              <a:rPr lang="en-IN" sz="1300" dirty="0"/>
              <a:t>}, Correct: {</a:t>
            </a:r>
            <a:r>
              <a:rPr lang="en-IN" sz="1300" dirty="0" err="1"/>
              <a:t>correct_ans</a:t>
            </a:r>
            <a:r>
              <a:rPr lang="en-IN" sz="1300" dirty="0"/>
              <a:t>})")</a:t>
            </a:r>
          </a:p>
          <a:p>
            <a:r>
              <a:rPr lang="en-IN" sz="1300" dirty="0"/>
              <a:t>    </a:t>
            </a:r>
            <a:r>
              <a:rPr lang="en-IN" sz="1300" dirty="0" err="1"/>
              <a:t>st.markdown</a:t>
            </a:r>
            <a:r>
              <a:rPr lang="en-IN" sz="1300" dirty="0"/>
              <a:t>("---")  </a:t>
            </a:r>
          </a:p>
          <a:p>
            <a:r>
              <a:rPr lang="en-IN" sz="1300" dirty="0"/>
              <a:t>    # Download Report</a:t>
            </a:r>
          </a:p>
          <a:p>
            <a:r>
              <a:rPr lang="en-IN" sz="1300" dirty="0"/>
              <a:t>    with open(pdf, "</a:t>
            </a:r>
            <a:r>
              <a:rPr lang="en-IN" sz="1300" dirty="0" err="1"/>
              <a:t>rb</a:t>
            </a:r>
            <a:r>
              <a:rPr lang="en-IN" sz="1300" dirty="0"/>
              <a:t>") as f:</a:t>
            </a:r>
          </a:p>
          <a:p>
            <a:r>
              <a:rPr lang="en-IN" sz="1300" dirty="0"/>
              <a:t>        </a:t>
            </a:r>
            <a:r>
              <a:rPr lang="en-IN" sz="1300" dirty="0" err="1"/>
              <a:t>st.download_button</a:t>
            </a:r>
            <a:r>
              <a:rPr lang="en-IN" sz="1300" dirty="0"/>
              <a:t>(</a:t>
            </a:r>
          </a:p>
          <a:p>
            <a:r>
              <a:rPr lang="en-IN" sz="1300" dirty="0"/>
              <a:t>            label="📄 Download Full Report (PDF)",</a:t>
            </a:r>
          </a:p>
          <a:p>
            <a:r>
              <a:rPr lang="en-IN" sz="1300" dirty="0"/>
              <a:t>            data=</a:t>
            </a:r>
            <a:r>
              <a:rPr lang="en-IN" sz="1300" dirty="0" err="1"/>
              <a:t>f.read</a:t>
            </a:r>
            <a:r>
              <a:rPr lang="en-IN" sz="1300" dirty="0"/>
              <a:t>(),</a:t>
            </a:r>
          </a:p>
          <a:p>
            <a:r>
              <a:rPr lang="en-IN" sz="1300" dirty="0"/>
              <a:t>            </a:t>
            </a:r>
            <a:r>
              <a:rPr lang="en-IN" sz="1300" dirty="0" err="1"/>
              <a:t>file_name</a:t>
            </a:r>
            <a:r>
              <a:rPr lang="en-IN" sz="1300" dirty="0"/>
              <a:t>=</a:t>
            </a:r>
            <a:r>
              <a:rPr lang="en-IN" sz="1300" dirty="0" err="1"/>
              <a:t>os.path.basename</a:t>
            </a:r>
            <a:r>
              <a:rPr lang="en-IN" sz="1300" dirty="0"/>
              <a:t>(pdf),</a:t>
            </a:r>
          </a:p>
          <a:p>
            <a:r>
              <a:rPr lang="en-IN" sz="1300" dirty="0"/>
              <a:t>            mime="application/pdf",</a:t>
            </a:r>
          </a:p>
          <a:p>
            <a:r>
              <a:rPr lang="en-IN" sz="1300" dirty="0"/>
              <a:t>            </a:t>
            </a:r>
            <a:r>
              <a:rPr lang="en-IN" sz="1300" dirty="0" err="1"/>
              <a:t>use_container_width</a:t>
            </a:r>
            <a:r>
              <a:rPr lang="en-IN" sz="1300" dirty="0"/>
              <a:t>=True</a:t>
            </a:r>
          </a:p>
          <a:p>
            <a:r>
              <a:rPr lang="en-IN" sz="1300" dirty="0"/>
              <a:t>        )</a:t>
            </a:r>
          </a:p>
          <a:p>
            <a:r>
              <a:rPr lang="en-IN" sz="1300" dirty="0"/>
              <a:t>    </a:t>
            </a:r>
            <a:r>
              <a:rPr lang="en-IN" sz="1300" dirty="0" err="1"/>
              <a:t>st.markdown</a:t>
            </a:r>
            <a:r>
              <a:rPr lang="en-IN" sz="1300" dirty="0"/>
              <a:t>("---")</a:t>
            </a:r>
          </a:p>
          <a:p>
            <a:r>
              <a:rPr lang="en-IN" sz="1300" dirty="0"/>
              <a:t>    # Reset Button</a:t>
            </a:r>
          </a:p>
          <a:p>
            <a:r>
              <a:rPr lang="en-IN" sz="1300" dirty="0"/>
              <a:t>    if </a:t>
            </a:r>
            <a:r>
              <a:rPr lang="en-IN" sz="1300" dirty="0" err="1"/>
              <a:t>st.button</a:t>
            </a:r>
            <a:r>
              <a:rPr lang="en-IN" sz="1300" dirty="0"/>
              <a:t>("🔄 Take Another Assessment", </a:t>
            </a:r>
            <a:r>
              <a:rPr lang="en-IN" sz="1300" dirty="0" err="1"/>
              <a:t>use_container_width</a:t>
            </a:r>
            <a:r>
              <a:rPr lang="en-IN" sz="1300" dirty="0"/>
              <a:t>=True):</a:t>
            </a:r>
          </a:p>
          <a:p>
            <a:r>
              <a:rPr lang="en-IN" sz="1300" dirty="0"/>
              <a:t>        </a:t>
            </a:r>
            <a:r>
              <a:rPr lang="en-IN" sz="1300" dirty="0" err="1"/>
              <a:t>st.session_state.step</a:t>
            </a:r>
            <a:r>
              <a:rPr lang="en-IN" sz="1300" dirty="0"/>
              <a:t> = 0</a:t>
            </a:r>
          </a:p>
          <a:p>
            <a:r>
              <a:rPr lang="en-IN" sz="1300" dirty="0"/>
              <a:t>        </a:t>
            </a:r>
            <a:r>
              <a:rPr lang="en-IN" sz="1300" dirty="0" err="1"/>
              <a:t>st.session_state.mcqs</a:t>
            </a:r>
            <a:r>
              <a:rPr lang="en-IN" sz="1300" dirty="0"/>
              <a:t> = []</a:t>
            </a:r>
          </a:p>
          <a:p>
            <a:r>
              <a:rPr lang="en-IN" sz="1300" dirty="0"/>
              <a:t>        </a:t>
            </a:r>
            <a:r>
              <a:rPr lang="en-IN" sz="1300" dirty="0" err="1"/>
              <a:t>st.session_state.answers</a:t>
            </a:r>
            <a:r>
              <a:rPr lang="en-IN" sz="1300" dirty="0"/>
              <a:t> = {}</a:t>
            </a:r>
          </a:p>
          <a:p>
            <a:r>
              <a:rPr lang="en-IN" sz="1300" dirty="0"/>
              <a:t>        </a:t>
            </a:r>
            <a:r>
              <a:rPr lang="en-IN" sz="1300" dirty="0" err="1"/>
              <a:t>st.session_state.score</a:t>
            </a:r>
            <a:r>
              <a:rPr lang="en-IN" sz="1300" dirty="0"/>
              <a:t> = 0</a:t>
            </a:r>
          </a:p>
          <a:p>
            <a:r>
              <a:rPr lang="en-IN" sz="1300" dirty="0"/>
              <a:t>        </a:t>
            </a:r>
            <a:r>
              <a:rPr lang="en-IN" sz="1300" dirty="0" err="1"/>
              <a:t>st.session_state.ai_used</a:t>
            </a:r>
            <a:r>
              <a:rPr lang="en-IN" sz="1300" dirty="0"/>
              <a:t> = False</a:t>
            </a:r>
          </a:p>
          <a:p>
            <a:r>
              <a:rPr lang="en-IN" sz="1300" dirty="0"/>
              <a:t>        </a:t>
            </a:r>
            <a:r>
              <a:rPr lang="en-IN" sz="1300" dirty="0" err="1"/>
              <a:t>st.rerun</a:t>
            </a:r>
            <a:r>
              <a:rPr lang="en-IN" sz="1300" dirty="0"/>
              <a:t>()</a:t>
            </a:r>
          </a:p>
        </p:txBody>
      </p:sp>
    </p:spTree>
    <p:extLst>
      <p:ext uri="{BB962C8B-B14F-4D97-AF65-F5344CB8AC3E}">
        <p14:creationId xmlns:p14="http://schemas.microsoft.com/office/powerpoint/2010/main" val="4092743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C8E5-36E2-B997-E1A2-CF36828F58E7}"/>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5C58E57B-24E6-418C-9B1D-2488CC4834AC}"/>
              </a:ext>
            </a:extLst>
          </p:cNvPr>
          <p:cNvSpPr>
            <a:spLocks noGrp="1"/>
          </p:cNvSpPr>
          <p:nvPr>
            <p:ph type="sldNum" sz="quarter" idx="12"/>
          </p:nvPr>
        </p:nvSpPr>
        <p:spPr/>
        <p:txBody>
          <a:bodyPr/>
          <a:lstStyle/>
          <a:p>
            <a:fld id="{3DEB779A-7110-4DE2-B295-CAC04DA4647A}" type="slidenum">
              <a:rPr lang="en-IN" smtClean="0"/>
              <a:t>22</a:t>
            </a:fld>
            <a:endParaRPr lang="en-IN"/>
          </a:p>
        </p:txBody>
      </p:sp>
      <p:sp>
        <p:nvSpPr>
          <p:cNvPr id="7" name="TextBox 6">
            <a:extLst>
              <a:ext uri="{FF2B5EF4-FFF2-40B4-BE49-F238E27FC236}">
                <a16:creationId xmlns:a16="http://schemas.microsoft.com/office/drawing/2014/main" id="{28F7D8B3-4E64-51DF-F938-7BFD66625780}"/>
              </a:ext>
            </a:extLst>
          </p:cNvPr>
          <p:cNvSpPr txBox="1"/>
          <p:nvPr/>
        </p:nvSpPr>
        <p:spPr>
          <a:xfrm>
            <a:off x="838200" y="1461651"/>
            <a:ext cx="6098720" cy="463397"/>
          </a:xfrm>
          <a:prstGeom prst="rect">
            <a:avLst/>
          </a:prstGeom>
          <a:noFill/>
        </p:spPr>
        <p:txBody>
          <a:bodyPr wrap="square">
            <a:spAutoFit/>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HOME PAGE: </a:t>
            </a:r>
            <a:r>
              <a:rPr lang="en-IN" dirty="0"/>
              <a:t>Dashboard</a:t>
            </a:r>
            <a:endParaRPr lang="en-IN" i="1" dirty="0"/>
          </a:p>
        </p:txBody>
      </p:sp>
      <p:pic>
        <p:nvPicPr>
          <p:cNvPr id="4" name="Picture 3">
            <a:extLst>
              <a:ext uri="{FF2B5EF4-FFF2-40B4-BE49-F238E27FC236}">
                <a16:creationId xmlns:a16="http://schemas.microsoft.com/office/drawing/2014/main" id="{4F417112-67AC-CEEE-83A6-7B29FB964655}"/>
              </a:ext>
            </a:extLst>
          </p:cNvPr>
          <p:cNvPicPr>
            <a:picLocks noChangeAspect="1"/>
          </p:cNvPicPr>
          <p:nvPr/>
        </p:nvPicPr>
        <p:blipFill>
          <a:blip r:embed="rId2"/>
          <a:stretch>
            <a:fillRect/>
          </a:stretch>
        </p:blipFill>
        <p:spPr>
          <a:xfrm>
            <a:off x="953729" y="1925048"/>
            <a:ext cx="10284542" cy="4260662"/>
          </a:xfrm>
          <a:prstGeom prst="rect">
            <a:avLst/>
          </a:prstGeom>
        </p:spPr>
      </p:pic>
    </p:spTree>
    <p:extLst>
      <p:ext uri="{BB962C8B-B14F-4D97-AF65-F5344CB8AC3E}">
        <p14:creationId xmlns:p14="http://schemas.microsoft.com/office/powerpoint/2010/main" val="3281315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2AF62-41ED-D7B0-0BA2-F89B4A33C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CA6D3-FC45-C890-5A5A-26641F6744F5}"/>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5EA138FC-1DDD-F931-AD46-66691391F72E}"/>
              </a:ext>
            </a:extLst>
          </p:cNvPr>
          <p:cNvSpPr>
            <a:spLocks noGrp="1"/>
          </p:cNvSpPr>
          <p:nvPr>
            <p:ph type="sldNum" sz="quarter" idx="12"/>
          </p:nvPr>
        </p:nvSpPr>
        <p:spPr/>
        <p:txBody>
          <a:bodyPr/>
          <a:lstStyle/>
          <a:p>
            <a:fld id="{3DEB779A-7110-4DE2-B295-CAC04DA4647A}" type="slidenum">
              <a:rPr lang="en-IN" smtClean="0"/>
              <a:t>23</a:t>
            </a:fld>
            <a:endParaRPr lang="en-IN"/>
          </a:p>
        </p:txBody>
      </p:sp>
      <p:sp>
        <p:nvSpPr>
          <p:cNvPr id="7" name="TextBox 6">
            <a:extLst>
              <a:ext uri="{FF2B5EF4-FFF2-40B4-BE49-F238E27FC236}">
                <a16:creationId xmlns:a16="http://schemas.microsoft.com/office/drawing/2014/main" id="{9E0B62CE-953B-D8D7-D553-26528E0C75CC}"/>
              </a:ext>
            </a:extLst>
          </p:cNvPr>
          <p:cNvSpPr txBox="1"/>
          <p:nvPr/>
        </p:nvSpPr>
        <p:spPr>
          <a:xfrm>
            <a:off x="838200" y="1355851"/>
            <a:ext cx="7772400" cy="463397"/>
          </a:xfrm>
          <a:prstGeom prst="rect">
            <a:avLst/>
          </a:prstGeom>
          <a:noFill/>
        </p:spPr>
        <p:txBody>
          <a:bodyPr wrap="square">
            <a:spAutoFit/>
          </a:bodyPr>
          <a:lstStyle/>
          <a:p>
            <a:pPr algn="just">
              <a:lnSpc>
                <a:spcPct val="150000"/>
              </a:lnSpc>
            </a:pPr>
            <a:r>
              <a:rPr lang="en-US" b="1" dirty="0">
                <a:latin typeface="Times New Roman" panose="02020603050405020304" pitchFamily="18" charset="0"/>
                <a:ea typeface="Times New Roman" panose="02020603050405020304" pitchFamily="18" charset="0"/>
              </a:rPr>
              <a:t>HOME PAGE: </a:t>
            </a:r>
            <a:r>
              <a:rPr lang="en-IN" dirty="0"/>
              <a:t>Upload Resume</a:t>
            </a:r>
            <a:endParaRPr lang="en-IN" i="1" dirty="0"/>
          </a:p>
        </p:txBody>
      </p:sp>
      <p:pic>
        <p:nvPicPr>
          <p:cNvPr id="4" name="Picture 3">
            <a:extLst>
              <a:ext uri="{FF2B5EF4-FFF2-40B4-BE49-F238E27FC236}">
                <a16:creationId xmlns:a16="http://schemas.microsoft.com/office/drawing/2014/main" id="{309401C0-7F35-7796-18E6-9F575ACBE3F2}"/>
              </a:ext>
            </a:extLst>
          </p:cNvPr>
          <p:cNvPicPr>
            <a:picLocks noChangeAspect="1"/>
          </p:cNvPicPr>
          <p:nvPr/>
        </p:nvPicPr>
        <p:blipFill>
          <a:blip r:embed="rId2"/>
          <a:stretch>
            <a:fillRect/>
          </a:stretch>
        </p:blipFill>
        <p:spPr>
          <a:xfrm>
            <a:off x="916858" y="1888360"/>
            <a:ext cx="10358283" cy="4398878"/>
          </a:xfrm>
          <a:prstGeom prst="rect">
            <a:avLst/>
          </a:prstGeom>
        </p:spPr>
      </p:pic>
    </p:spTree>
    <p:extLst>
      <p:ext uri="{BB962C8B-B14F-4D97-AF65-F5344CB8AC3E}">
        <p14:creationId xmlns:p14="http://schemas.microsoft.com/office/powerpoint/2010/main" val="405740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D2C56-C5EE-508B-CB9A-177CCD642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BB769-4F78-A96E-4904-9A5105275C61}"/>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C172EAD8-6FF0-3540-8947-AA8DC8A426BB}"/>
              </a:ext>
            </a:extLst>
          </p:cNvPr>
          <p:cNvSpPr>
            <a:spLocks noGrp="1"/>
          </p:cNvSpPr>
          <p:nvPr>
            <p:ph type="sldNum" sz="quarter" idx="12"/>
          </p:nvPr>
        </p:nvSpPr>
        <p:spPr/>
        <p:txBody>
          <a:bodyPr/>
          <a:lstStyle/>
          <a:p>
            <a:fld id="{3DEB779A-7110-4DE2-B295-CAC04DA4647A}" type="slidenum">
              <a:rPr lang="en-IN" smtClean="0"/>
              <a:t>24</a:t>
            </a:fld>
            <a:endParaRPr lang="en-IN"/>
          </a:p>
        </p:txBody>
      </p:sp>
      <p:sp>
        <p:nvSpPr>
          <p:cNvPr id="7" name="TextBox 6">
            <a:extLst>
              <a:ext uri="{FF2B5EF4-FFF2-40B4-BE49-F238E27FC236}">
                <a16:creationId xmlns:a16="http://schemas.microsoft.com/office/drawing/2014/main" id="{345FF540-7674-DD63-EED8-6CD56A2401AE}"/>
              </a:ext>
            </a:extLst>
          </p:cNvPr>
          <p:cNvSpPr txBox="1"/>
          <p:nvPr/>
        </p:nvSpPr>
        <p:spPr>
          <a:xfrm>
            <a:off x="913615" y="1506022"/>
            <a:ext cx="6098720" cy="369332"/>
          </a:xfrm>
          <a:prstGeom prst="rect">
            <a:avLst/>
          </a:prstGeom>
          <a:noFill/>
        </p:spPr>
        <p:txBody>
          <a:bodyPr wrap="square">
            <a:spAutoFit/>
          </a:bodyPr>
          <a:lstStyle/>
          <a:p>
            <a:r>
              <a:rPr lang="en-IN" dirty="0"/>
              <a:t>Skill extraction :</a:t>
            </a:r>
          </a:p>
        </p:txBody>
      </p:sp>
      <p:pic>
        <p:nvPicPr>
          <p:cNvPr id="4" name="Picture 3">
            <a:extLst>
              <a:ext uri="{FF2B5EF4-FFF2-40B4-BE49-F238E27FC236}">
                <a16:creationId xmlns:a16="http://schemas.microsoft.com/office/drawing/2014/main" id="{D1097A12-97F8-DAAF-349A-C36149FD5B26}"/>
              </a:ext>
            </a:extLst>
          </p:cNvPr>
          <p:cNvPicPr>
            <a:picLocks noChangeAspect="1"/>
          </p:cNvPicPr>
          <p:nvPr/>
        </p:nvPicPr>
        <p:blipFill>
          <a:blip r:embed="rId2"/>
          <a:stretch>
            <a:fillRect/>
          </a:stretch>
        </p:blipFill>
        <p:spPr>
          <a:xfrm>
            <a:off x="913615" y="2196311"/>
            <a:ext cx="10774665" cy="3447405"/>
          </a:xfrm>
          <a:prstGeom prst="rect">
            <a:avLst/>
          </a:prstGeom>
        </p:spPr>
      </p:pic>
    </p:spTree>
    <p:extLst>
      <p:ext uri="{BB962C8B-B14F-4D97-AF65-F5344CB8AC3E}">
        <p14:creationId xmlns:p14="http://schemas.microsoft.com/office/powerpoint/2010/main" val="1654671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B6AAB-748A-5B84-CF4B-7A111C730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61042-7CED-2161-EB47-83938778DED2}"/>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1502C935-AAD4-77A6-04D3-7158C10C567E}"/>
              </a:ext>
            </a:extLst>
          </p:cNvPr>
          <p:cNvSpPr>
            <a:spLocks noGrp="1"/>
          </p:cNvSpPr>
          <p:nvPr>
            <p:ph type="sldNum" sz="quarter" idx="12"/>
          </p:nvPr>
        </p:nvSpPr>
        <p:spPr/>
        <p:txBody>
          <a:bodyPr/>
          <a:lstStyle/>
          <a:p>
            <a:fld id="{3DEB779A-7110-4DE2-B295-CAC04DA4647A}" type="slidenum">
              <a:rPr lang="en-IN" smtClean="0"/>
              <a:t>25</a:t>
            </a:fld>
            <a:endParaRPr lang="en-IN"/>
          </a:p>
        </p:txBody>
      </p:sp>
      <p:sp>
        <p:nvSpPr>
          <p:cNvPr id="7" name="TextBox 6">
            <a:extLst>
              <a:ext uri="{FF2B5EF4-FFF2-40B4-BE49-F238E27FC236}">
                <a16:creationId xmlns:a16="http://schemas.microsoft.com/office/drawing/2014/main" id="{34E88B3D-94E0-D7B1-5B0C-25777E62638C}"/>
              </a:ext>
            </a:extLst>
          </p:cNvPr>
          <p:cNvSpPr txBox="1"/>
          <p:nvPr/>
        </p:nvSpPr>
        <p:spPr>
          <a:xfrm>
            <a:off x="838200" y="1461651"/>
            <a:ext cx="6098720" cy="369332"/>
          </a:xfrm>
          <a:prstGeom prst="rect">
            <a:avLst/>
          </a:prstGeom>
          <a:noFill/>
        </p:spPr>
        <p:txBody>
          <a:bodyPr wrap="square">
            <a:spAutoFit/>
          </a:bodyPr>
          <a:lstStyle/>
          <a:p>
            <a:r>
              <a:rPr lang="en-IN" dirty="0"/>
              <a:t>Interview questions :</a:t>
            </a:r>
            <a:endParaRPr lang="en-IN" i="1" dirty="0"/>
          </a:p>
        </p:txBody>
      </p:sp>
      <p:pic>
        <p:nvPicPr>
          <p:cNvPr id="8" name="Picture 7">
            <a:extLst>
              <a:ext uri="{FF2B5EF4-FFF2-40B4-BE49-F238E27FC236}">
                <a16:creationId xmlns:a16="http://schemas.microsoft.com/office/drawing/2014/main" id="{E0D50D0D-1A1A-CE36-225B-36C0EF604B9B}"/>
              </a:ext>
            </a:extLst>
          </p:cNvPr>
          <p:cNvPicPr>
            <a:picLocks noChangeAspect="1"/>
          </p:cNvPicPr>
          <p:nvPr/>
        </p:nvPicPr>
        <p:blipFill>
          <a:blip r:embed="rId2"/>
          <a:stretch>
            <a:fillRect/>
          </a:stretch>
        </p:blipFill>
        <p:spPr>
          <a:xfrm>
            <a:off x="1179871" y="2091214"/>
            <a:ext cx="10084146" cy="4083444"/>
          </a:xfrm>
          <a:prstGeom prst="rect">
            <a:avLst/>
          </a:prstGeom>
        </p:spPr>
      </p:pic>
    </p:spTree>
    <p:extLst>
      <p:ext uri="{BB962C8B-B14F-4D97-AF65-F5344CB8AC3E}">
        <p14:creationId xmlns:p14="http://schemas.microsoft.com/office/powerpoint/2010/main" val="2440973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6EF8-6475-A07E-085B-41767F517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459BE-8B3B-7E72-A4E8-B9521D820371}"/>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78FFDE76-65B0-D289-9758-D80AA7E14C45}"/>
              </a:ext>
            </a:extLst>
          </p:cNvPr>
          <p:cNvSpPr>
            <a:spLocks noGrp="1"/>
          </p:cNvSpPr>
          <p:nvPr>
            <p:ph type="sldNum" sz="quarter" idx="12"/>
          </p:nvPr>
        </p:nvSpPr>
        <p:spPr/>
        <p:txBody>
          <a:bodyPr/>
          <a:lstStyle/>
          <a:p>
            <a:fld id="{3DEB779A-7110-4DE2-B295-CAC04DA4647A}" type="slidenum">
              <a:rPr lang="en-IN" smtClean="0"/>
              <a:t>26</a:t>
            </a:fld>
            <a:endParaRPr lang="en-IN"/>
          </a:p>
        </p:txBody>
      </p:sp>
      <p:sp>
        <p:nvSpPr>
          <p:cNvPr id="7" name="TextBox 6">
            <a:extLst>
              <a:ext uri="{FF2B5EF4-FFF2-40B4-BE49-F238E27FC236}">
                <a16:creationId xmlns:a16="http://schemas.microsoft.com/office/drawing/2014/main" id="{734EAEB1-6DA4-CEA7-6766-4035C63B9F75}"/>
              </a:ext>
            </a:extLst>
          </p:cNvPr>
          <p:cNvSpPr txBox="1"/>
          <p:nvPr/>
        </p:nvSpPr>
        <p:spPr>
          <a:xfrm>
            <a:off x="838200" y="1321355"/>
            <a:ext cx="6098720" cy="369332"/>
          </a:xfrm>
          <a:prstGeom prst="rect">
            <a:avLst/>
          </a:prstGeom>
          <a:noFill/>
        </p:spPr>
        <p:txBody>
          <a:bodyPr wrap="square">
            <a:spAutoFit/>
          </a:bodyPr>
          <a:lstStyle/>
          <a:p>
            <a:r>
              <a:rPr lang="en-US" i="1" dirty="0">
                <a:latin typeface="Calibri (Body)"/>
              </a:rPr>
              <a:t>R</a:t>
            </a:r>
            <a:r>
              <a:rPr lang="en-IN" i="1" dirty="0" err="1">
                <a:latin typeface="Calibri (Body)"/>
              </a:rPr>
              <a:t>esult</a:t>
            </a:r>
            <a:r>
              <a:rPr lang="en-IN" i="1" dirty="0">
                <a:latin typeface="Calibri (Body)"/>
              </a:rPr>
              <a:t> of the evaluation :</a:t>
            </a:r>
          </a:p>
        </p:txBody>
      </p:sp>
      <p:pic>
        <p:nvPicPr>
          <p:cNvPr id="8" name="Picture 7">
            <a:extLst>
              <a:ext uri="{FF2B5EF4-FFF2-40B4-BE49-F238E27FC236}">
                <a16:creationId xmlns:a16="http://schemas.microsoft.com/office/drawing/2014/main" id="{BC1EE4BE-6274-A445-3CEB-167C630E703E}"/>
              </a:ext>
            </a:extLst>
          </p:cNvPr>
          <p:cNvPicPr>
            <a:picLocks noChangeAspect="1"/>
          </p:cNvPicPr>
          <p:nvPr/>
        </p:nvPicPr>
        <p:blipFill>
          <a:blip r:embed="rId2"/>
          <a:stretch>
            <a:fillRect/>
          </a:stretch>
        </p:blipFill>
        <p:spPr>
          <a:xfrm>
            <a:off x="1042716" y="1840034"/>
            <a:ext cx="10106568" cy="4366970"/>
          </a:xfrm>
          <a:prstGeom prst="rect">
            <a:avLst/>
          </a:prstGeom>
        </p:spPr>
      </p:pic>
    </p:spTree>
    <p:extLst>
      <p:ext uri="{BB962C8B-B14F-4D97-AF65-F5344CB8AC3E}">
        <p14:creationId xmlns:p14="http://schemas.microsoft.com/office/powerpoint/2010/main" val="850855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7DCAB-5C5E-A5B8-B566-D659BD03A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A642E-1BA9-C88D-146B-039E0B063C27}"/>
              </a:ext>
            </a:extLst>
          </p:cNvPr>
          <p:cNvSpPr>
            <a:spLocks noGrp="1"/>
          </p:cNvSpPr>
          <p:nvPr>
            <p:ph type="title"/>
          </p:nvPr>
        </p:nvSpPr>
        <p:spPr>
          <a:xfrm>
            <a:off x="838200" y="-195314"/>
            <a:ext cx="10515600" cy="1325563"/>
          </a:xfrm>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4B14DADB-94F3-F608-17FA-54B7F6118130}"/>
              </a:ext>
            </a:extLst>
          </p:cNvPr>
          <p:cNvSpPr>
            <a:spLocks noGrp="1"/>
          </p:cNvSpPr>
          <p:nvPr>
            <p:ph type="sldNum" sz="quarter" idx="12"/>
          </p:nvPr>
        </p:nvSpPr>
        <p:spPr/>
        <p:txBody>
          <a:bodyPr/>
          <a:lstStyle/>
          <a:p>
            <a:fld id="{3DEB779A-7110-4DE2-B295-CAC04DA4647A}" type="slidenum">
              <a:rPr lang="en-IN" smtClean="0"/>
              <a:t>27</a:t>
            </a:fld>
            <a:endParaRPr lang="en-IN"/>
          </a:p>
        </p:txBody>
      </p:sp>
      <p:sp>
        <p:nvSpPr>
          <p:cNvPr id="7" name="TextBox 6">
            <a:extLst>
              <a:ext uri="{FF2B5EF4-FFF2-40B4-BE49-F238E27FC236}">
                <a16:creationId xmlns:a16="http://schemas.microsoft.com/office/drawing/2014/main" id="{753D5596-93D6-63BC-1F00-20CB32F17641}"/>
              </a:ext>
            </a:extLst>
          </p:cNvPr>
          <p:cNvSpPr txBox="1"/>
          <p:nvPr/>
        </p:nvSpPr>
        <p:spPr>
          <a:xfrm>
            <a:off x="838200" y="1111284"/>
            <a:ext cx="3647693" cy="369332"/>
          </a:xfrm>
          <a:prstGeom prst="rect">
            <a:avLst/>
          </a:prstGeom>
          <a:noFill/>
        </p:spPr>
        <p:txBody>
          <a:bodyPr wrap="square">
            <a:spAutoFit/>
          </a:bodyPr>
          <a:lstStyle/>
          <a:p>
            <a:r>
              <a:rPr lang="en-IN" dirty="0"/>
              <a:t>Download Report and Send mail :</a:t>
            </a:r>
            <a:endParaRPr lang="en-IN" i="1" dirty="0"/>
          </a:p>
        </p:txBody>
      </p:sp>
      <p:pic>
        <p:nvPicPr>
          <p:cNvPr id="8" name="Picture 7">
            <a:extLst>
              <a:ext uri="{FF2B5EF4-FFF2-40B4-BE49-F238E27FC236}">
                <a16:creationId xmlns:a16="http://schemas.microsoft.com/office/drawing/2014/main" id="{2AE0552D-0688-E8D3-C210-F915E6798509}"/>
              </a:ext>
            </a:extLst>
          </p:cNvPr>
          <p:cNvPicPr>
            <a:picLocks noChangeAspect="1"/>
          </p:cNvPicPr>
          <p:nvPr/>
        </p:nvPicPr>
        <p:blipFill>
          <a:blip r:embed="rId2"/>
          <a:stretch>
            <a:fillRect/>
          </a:stretch>
        </p:blipFill>
        <p:spPr>
          <a:xfrm>
            <a:off x="1057351" y="1480616"/>
            <a:ext cx="3209390" cy="4587335"/>
          </a:xfrm>
          <a:prstGeom prst="rect">
            <a:avLst/>
          </a:prstGeom>
        </p:spPr>
      </p:pic>
      <p:pic>
        <p:nvPicPr>
          <p:cNvPr id="11" name="Picture 10">
            <a:extLst>
              <a:ext uri="{FF2B5EF4-FFF2-40B4-BE49-F238E27FC236}">
                <a16:creationId xmlns:a16="http://schemas.microsoft.com/office/drawing/2014/main" id="{A51CD225-B697-437F-B7F6-3C0614DB5EBF}"/>
              </a:ext>
            </a:extLst>
          </p:cNvPr>
          <p:cNvPicPr>
            <a:picLocks noChangeAspect="1"/>
          </p:cNvPicPr>
          <p:nvPr/>
        </p:nvPicPr>
        <p:blipFill>
          <a:blip r:embed="rId3"/>
          <a:stretch>
            <a:fillRect/>
          </a:stretch>
        </p:blipFill>
        <p:spPr>
          <a:xfrm>
            <a:off x="4666508" y="1779454"/>
            <a:ext cx="5315692" cy="447737"/>
          </a:xfrm>
          <a:prstGeom prst="rect">
            <a:avLst/>
          </a:prstGeom>
        </p:spPr>
      </p:pic>
      <p:pic>
        <p:nvPicPr>
          <p:cNvPr id="13" name="Picture 12">
            <a:extLst>
              <a:ext uri="{FF2B5EF4-FFF2-40B4-BE49-F238E27FC236}">
                <a16:creationId xmlns:a16="http://schemas.microsoft.com/office/drawing/2014/main" id="{C99BCF63-6152-ADDF-1572-78459CE9D712}"/>
              </a:ext>
            </a:extLst>
          </p:cNvPr>
          <p:cNvPicPr>
            <a:picLocks noChangeAspect="1"/>
          </p:cNvPicPr>
          <p:nvPr/>
        </p:nvPicPr>
        <p:blipFill>
          <a:blip r:embed="rId4"/>
          <a:stretch>
            <a:fillRect/>
          </a:stretch>
        </p:blipFill>
        <p:spPr>
          <a:xfrm>
            <a:off x="4562168" y="2658458"/>
            <a:ext cx="6282813" cy="2600950"/>
          </a:xfrm>
          <a:prstGeom prst="rect">
            <a:avLst/>
          </a:prstGeom>
        </p:spPr>
      </p:pic>
    </p:spTree>
    <p:extLst>
      <p:ext uri="{BB962C8B-B14F-4D97-AF65-F5344CB8AC3E}">
        <p14:creationId xmlns:p14="http://schemas.microsoft.com/office/powerpoint/2010/main" val="3413175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731AC-3586-3DB8-A635-2780D61C4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8D0C0-D23E-BEE9-ECFE-53F393173A5E}"/>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CA17E108-382A-D846-8EB0-FEB006F4001F}"/>
              </a:ext>
            </a:extLst>
          </p:cNvPr>
          <p:cNvSpPr>
            <a:spLocks noGrp="1"/>
          </p:cNvSpPr>
          <p:nvPr>
            <p:ph type="sldNum" sz="quarter" idx="12"/>
          </p:nvPr>
        </p:nvSpPr>
        <p:spPr/>
        <p:txBody>
          <a:bodyPr/>
          <a:lstStyle/>
          <a:p>
            <a:fld id="{3DEB779A-7110-4DE2-B295-CAC04DA4647A}" type="slidenum">
              <a:rPr lang="en-IN" smtClean="0"/>
              <a:t>28</a:t>
            </a:fld>
            <a:endParaRPr lang="en-IN"/>
          </a:p>
        </p:txBody>
      </p:sp>
      <p:sp>
        <p:nvSpPr>
          <p:cNvPr id="7" name="TextBox 6">
            <a:extLst>
              <a:ext uri="{FF2B5EF4-FFF2-40B4-BE49-F238E27FC236}">
                <a16:creationId xmlns:a16="http://schemas.microsoft.com/office/drawing/2014/main" id="{139A8255-962C-7C2B-1094-A4ADDB9556F7}"/>
              </a:ext>
            </a:extLst>
          </p:cNvPr>
          <p:cNvSpPr txBox="1"/>
          <p:nvPr/>
        </p:nvSpPr>
        <p:spPr>
          <a:xfrm>
            <a:off x="838200" y="1461651"/>
            <a:ext cx="6098720" cy="369332"/>
          </a:xfrm>
          <a:prstGeom prst="rect">
            <a:avLst/>
          </a:prstGeom>
          <a:noFill/>
        </p:spPr>
        <p:txBody>
          <a:bodyPr wrap="square">
            <a:spAutoFit/>
          </a:bodyPr>
          <a:lstStyle/>
          <a:p>
            <a:r>
              <a:rPr lang="en-IN" dirty="0"/>
              <a:t>Admin Login :</a:t>
            </a:r>
            <a:endParaRPr lang="en-IN" i="1" dirty="0"/>
          </a:p>
        </p:txBody>
      </p:sp>
      <p:pic>
        <p:nvPicPr>
          <p:cNvPr id="4" name="Picture 3">
            <a:extLst>
              <a:ext uri="{FF2B5EF4-FFF2-40B4-BE49-F238E27FC236}">
                <a16:creationId xmlns:a16="http://schemas.microsoft.com/office/drawing/2014/main" id="{18D42C77-9DBB-BEEB-25F6-35F5D125E5CB}"/>
              </a:ext>
            </a:extLst>
          </p:cNvPr>
          <p:cNvPicPr>
            <a:picLocks noChangeAspect="1"/>
          </p:cNvPicPr>
          <p:nvPr/>
        </p:nvPicPr>
        <p:blipFill>
          <a:blip r:embed="rId2"/>
          <a:stretch>
            <a:fillRect/>
          </a:stretch>
        </p:blipFill>
        <p:spPr>
          <a:xfrm>
            <a:off x="954958" y="1985914"/>
            <a:ext cx="10282084" cy="3743398"/>
          </a:xfrm>
          <a:prstGeom prst="rect">
            <a:avLst/>
          </a:prstGeom>
        </p:spPr>
      </p:pic>
    </p:spTree>
    <p:extLst>
      <p:ext uri="{BB962C8B-B14F-4D97-AF65-F5344CB8AC3E}">
        <p14:creationId xmlns:p14="http://schemas.microsoft.com/office/powerpoint/2010/main" val="533479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CE2B-151B-BBEA-8A24-ADEF8F74F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7E38B-C960-53E0-EA4B-CA3563CBD100}"/>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22386AD7-34F9-07AD-2E19-5953511C8442}"/>
              </a:ext>
            </a:extLst>
          </p:cNvPr>
          <p:cNvSpPr>
            <a:spLocks noGrp="1"/>
          </p:cNvSpPr>
          <p:nvPr>
            <p:ph type="sldNum" sz="quarter" idx="12"/>
          </p:nvPr>
        </p:nvSpPr>
        <p:spPr/>
        <p:txBody>
          <a:bodyPr/>
          <a:lstStyle/>
          <a:p>
            <a:fld id="{3DEB779A-7110-4DE2-B295-CAC04DA4647A}" type="slidenum">
              <a:rPr lang="en-IN" smtClean="0"/>
              <a:t>29</a:t>
            </a:fld>
            <a:endParaRPr lang="en-IN"/>
          </a:p>
        </p:txBody>
      </p:sp>
      <p:sp>
        <p:nvSpPr>
          <p:cNvPr id="7" name="TextBox 6">
            <a:extLst>
              <a:ext uri="{FF2B5EF4-FFF2-40B4-BE49-F238E27FC236}">
                <a16:creationId xmlns:a16="http://schemas.microsoft.com/office/drawing/2014/main" id="{925CDA99-49EA-9490-D3FD-6698512BDE75}"/>
              </a:ext>
            </a:extLst>
          </p:cNvPr>
          <p:cNvSpPr txBox="1"/>
          <p:nvPr/>
        </p:nvSpPr>
        <p:spPr>
          <a:xfrm>
            <a:off x="838200" y="1461651"/>
            <a:ext cx="6098720" cy="369332"/>
          </a:xfrm>
          <a:prstGeom prst="rect">
            <a:avLst/>
          </a:prstGeom>
          <a:noFill/>
        </p:spPr>
        <p:txBody>
          <a:bodyPr wrap="square">
            <a:spAutoFit/>
          </a:bodyPr>
          <a:lstStyle/>
          <a:p>
            <a:r>
              <a:rPr lang="en-IN" dirty="0"/>
              <a:t>Admin Dashboard :</a:t>
            </a:r>
            <a:endParaRPr lang="en-IN" i="1" dirty="0"/>
          </a:p>
        </p:txBody>
      </p:sp>
      <p:pic>
        <p:nvPicPr>
          <p:cNvPr id="5" name="Picture 4">
            <a:extLst>
              <a:ext uri="{FF2B5EF4-FFF2-40B4-BE49-F238E27FC236}">
                <a16:creationId xmlns:a16="http://schemas.microsoft.com/office/drawing/2014/main" id="{0788E6AE-13AF-B818-2103-46732898D708}"/>
              </a:ext>
            </a:extLst>
          </p:cNvPr>
          <p:cNvPicPr>
            <a:picLocks noChangeAspect="1"/>
          </p:cNvPicPr>
          <p:nvPr/>
        </p:nvPicPr>
        <p:blipFill>
          <a:blip r:embed="rId2"/>
          <a:stretch>
            <a:fillRect/>
          </a:stretch>
        </p:blipFill>
        <p:spPr>
          <a:xfrm>
            <a:off x="1174346" y="1935441"/>
            <a:ext cx="9572312" cy="4176156"/>
          </a:xfrm>
          <a:prstGeom prst="rect">
            <a:avLst/>
          </a:prstGeom>
        </p:spPr>
      </p:pic>
    </p:spTree>
    <p:extLst>
      <p:ext uri="{BB962C8B-B14F-4D97-AF65-F5344CB8AC3E}">
        <p14:creationId xmlns:p14="http://schemas.microsoft.com/office/powerpoint/2010/main" val="887626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F2DB7-D703-EC29-6673-D6FF0D1B8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D3C28-7639-C672-527E-BCA2475D1CB0}"/>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OUTPUT</a:t>
            </a:r>
          </a:p>
        </p:txBody>
      </p:sp>
      <p:sp>
        <p:nvSpPr>
          <p:cNvPr id="6" name="Slide Number Placeholder 5">
            <a:extLst>
              <a:ext uri="{FF2B5EF4-FFF2-40B4-BE49-F238E27FC236}">
                <a16:creationId xmlns:a16="http://schemas.microsoft.com/office/drawing/2014/main" id="{1B66408A-E2E6-1B65-80A4-3A4AA32C22DA}"/>
              </a:ext>
            </a:extLst>
          </p:cNvPr>
          <p:cNvSpPr>
            <a:spLocks noGrp="1"/>
          </p:cNvSpPr>
          <p:nvPr>
            <p:ph type="sldNum" sz="quarter" idx="12"/>
          </p:nvPr>
        </p:nvSpPr>
        <p:spPr/>
        <p:txBody>
          <a:bodyPr/>
          <a:lstStyle/>
          <a:p>
            <a:fld id="{3DEB779A-7110-4DE2-B295-CAC04DA4647A}" type="slidenum">
              <a:rPr lang="en-IN" smtClean="0"/>
              <a:t>30</a:t>
            </a:fld>
            <a:endParaRPr lang="en-IN"/>
          </a:p>
        </p:txBody>
      </p:sp>
      <p:sp>
        <p:nvSpPr>
          <p:cNvPr id="7" name="TextBox 6">
            <a:extLst>
              <a:ext uri="{FF2B5EF4-FFF2-40B4-BE49-F238E27FC236}">
                <a16:creationId xmlns:a16="http://schemas.microsoft.com/office/drawing/2014/main" id="{F80C9F16-43E1-346F-9E5E-E538C9A9AFF1}"/>
              </a:ext>
            </a:extLst>
          </p:cNvPr>
          <p:cNvSpPr txBox="1"/>
          <p:nvPr/>
        </p:nvSpPr>
        <p:spPr>
          <a:xfrm>
            <a:off x="838200" y="1461651"/>
            <a:ext cx="6098720" cy="369332"/>
          </a:xfrm>
          <a:prstGeom prst="rect">
            <a:avLst/>
          </a:prstGeom>
          <a:noFill/>
        </p:spPr>
        <p:txBody>
          <a:bodyPr wrap="square">
            <a:spAutoFit/>
          </a:bodyPr>
          <a:lstStyle/>
          <a:p>
            <a:r>
              <a:rPr lang="en-IN" dirty="0"/>
              <a:t>Admin Dashboard :</a:t>
            </a:r>
            <a:endParaRPr lang="en-IN" i="1" dirty="0"/>
          </a:p>
        </p:txBody>
      </p:sp>
      <p:pic>
        <p:nvPicPr>
          <p:cNvPr id="4" name="Picture 3">
            <a:extLst>
              <a:ext uri="{FF2B5EF4-FFF2-40B4-BE49-F238E27FC236}">
                <a16:creationId xmlns:a16="http://schemas.microsoft.com/office/drawing/2014/main" id="{CF19FAF4-1F8E-76EA-5283-7423E1759454}"/>
              </a:ext>
            </a:extLst>
          </p:cNvPr>
          <p:cNvPicPr>
            <a:picLocks noChangeAspect="1"/>
          </p:cNvPicPr>
          <p:nvPr/>
        </p:nvPicPr>
        <p:blipFill>
          <a:blip r:embed="rId2"/>
          <a:stretch>
            <a:fillRect/>
          </a:stretch>
        </p:blipFill>
        <p:spPr>
          <a:xfrm>
            <a:off x="1279615" y="1939734"/>
            <a:ext cx="9868662" cy="3989118"/>
          </a:xfrm>
          <a:prstGeom prst="rect">
            <a:avLst/>
          </a:prstGeom>
        </p:spPr>
      </p:pic>
    </p:spTree>
    <p:extLst>
      <p:ext uri="{BB962C8B-B14F-4D97-AF65-F5344CB8AC3E}">
        <p14:creationId xmlns:p14="http://schemas.microsoft.com/office/powerpoint/2010/main" val="1091960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A425-E1C8-7733-F861-FB3C93388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1D36-7DA6-7AB0-9276-7F1A1651D0D9}"/>
              </a:ext>
            </a:extLst>
          </p:cNvPr>
          <p:cNvSpPr>
            <a:spLocks noGrp="1"/>
          </p:cNvSpPr>
          <p:nvPr>
            <p:ph type="title"/>
          </p:nvPr>
        </p:nvSpPr>
        <p:spPr>
          <a:xfrm>
            <a:off x="838200" y="0"/>
            <a:ext cx="10515600" cy="1325563"/>
          </a:xfrm>
        </p:spPr>
        <p:txBody>
          <a:bodyPr/>
          <a:lstStyle/>
          <a:p>
            <a:pPr algn="ctr"/>
            <a:r>
              <a:rPr lang="en-IN" u="sng" dirty="0">
                <a:latin typeface="Times New Roman" panose="02020603050405020304" pitchFamily="18" charset="0"/>
                <a:cs typeface="Times New Roman" panose="02020603050405020304" pitchFamily="18" charset="0"/>
              </a:rPr>
              <a:t>BENEFITS</a:t>
            </a:r>
          </a:p>
        </p:txBody>
      </p:sp>
      <p:sp>
        <p:nvSpPr>
          <p:cNvPr id="5" name="Slide Number Placeholder 4">
            <a:extLst>
              <a:ext uri="{FF2B5EF4-FFF2-40B4-BE49-F238E27FC236}">
                <a16:creationId xmlns:a16="http://schemas.microsoft.com/office/drawing/2014/main" id="{1C903500-5282-FFF4-A8A1-1510A8390467}"/>
              </a:ext>
            </a:extLst>
          </p:cNvPr>
          <p:cNvSpPr>
            <a:spLocks noGrp="1"/>
          </p:cNvSpPr>
          <p:nvPr>
            <p:ph type="sldNum" sz="quarter" idx="12"/>
          </p:nvPr>
        </p:nvSpPr>
        <p:spPr/>
        <p:txBody>
          <a:bodyPr/>
          <a:lstStyle/>
          <a:p>
            <a:fld id="{3DEB779A-7110-4DE2-B295-CAC04DA4647A}" type="slidenum">
              <a:rPr lang="en-IN" smtClean="0"/>
              <a:t>31</a:t>
            </a:fld>
            <a:endParaRPr lang="en-IN" dirty="0"/>
          </a:p>
        </p:txBody>
      </p:sp>
      <p:sp>
        <p:nvSpPr>
          <p:cNvPr id="7" name="Rectangle 2">
            <a:extLst>
              <a:ext uri="{FF2B5EF4-FFF2-40B4-BE49-F238E27FC236}">
                <a16:creationId xmlns:a16="http://schemas.microsoft.com/office/drawing/2014/main" id="{4E2CD72E-8545-2CF3-147A-90DDFA1ABE5B}"/>
              </a:ext>
            </a:extLst>
          </p:cNvPr>
          <p:cNvSpPr>
            <a:spLocks noGrp="1" noChangeArrowheads="1"/>
          </p:cNvSpPr>
          <p:nvPr>
            <p:ph idx="1"/>
          </p:nvPr>
        </p:nvSpPr>
        <p:spPr bwMode="auto">
          <a:xfrm>
            <a:off x="529713" y="1183600"/>
            <a:ext cx="1131591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Reduces manual effort involved in preparing interview questions and evaluating candidates.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Provides consistent and unbiased interview assessments through automated evaluation.</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Saves time for recruiters, faculty members, and interviewers by automating the entire assessment process.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Generates skill-specific interview questions tailored to individual candidates.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Ensures uninterrupted system operation through a reliable fallback question mechanism.</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Delivers instant results and detailed performance feedback to candidates.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Improves transparency by generating structured assessment reports and analytics.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Enables easy record maintenance and performance tracking through an admin dashboard.</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Enhances scalability by supporting assessments for a large number of candidates.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Improves interview preparation and job readiness of students and job seekers.</a:t>
            </a:r>
          </a:p>
        </p:txBody>
      </p:sp>
    </p:spTree>
    <p:extLst>
      <p:ext uri="{BB962C8B-B14F-4D97-AF65-F5344CB8AC3E}">
        <p14:creationId xmlns:p14="http://schemas.microsoft.com/office/powerpoint/2010/main" val="3165005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58CB-6D00-56BF-8741-94AF0C1D7577}"/>
              </a:ext>
            </a:extLst>
          </p:cNvPr>
          <p:cNvSpPr>
            <a:spLocks noGrp="1"/>
          </p:cNvSpPr>
          <p:nvPr>
            <p:ph type="title"/>
          </p:nvPr>
        </p:nvSpPr>
        <p:spPr>
          <a:xfrm>
            <a:off x="838199" y="136526"/>
            <a:ext cx="10321414" cy="1061680"/>
          </a:xfrm>
        </p:spPr>
        <p:txBody>
          <a:bodyPr/>
          <a:lstStyle/>
          <a:p>
            <a:pPr algn="ctr"/>
            <a:r>
              <a:rPr lang="en-IN" u="sng" dirty="0">
                <a:latin typeface="Times New Roman" panose="02020603050405020304" pitchFamily="18" charset="0"/>
                <a:cs typeface="Times New Roman" panose="02020603050405020304" pitchFamily="18" charset="0"/>
              </a:rPr>
              <a:t>COLLABORATIVE DIAGRAM</a:t>
            </a:r>
          </a:p>
        </p:txBody>
      </p:sp>
      <p:sp>
        <p:nvSpPr>
          <p:cNvPr id="6" name="Slide Number Placeholder 5">
            <a:extLst>
              <a:ext uri="{FF2B5EF4-FFF2-40B4-BE49-F238E27FC236}">
                <a16:creationId xmlns:a16="http://schemas.microsoft.com/office/drawing/2014/main" id="{101DA787-69E2-C538-F7B7-70507817B5D2}"/>
              </a:ext>
            </a:extLst>
          </p:cNvPr>
          <p:cNvSpPr>
            <a:spLocks noGrp="1"/>
          </p:cNvSpPr>
          <p:nvPr>
            <p:ph type="sldNum" sz="quarter" idx="12"/>
          </p:nvPr>
        </p:nvSpPr>
        <p:spPr/>
        <p:txBody>
          <a:bodyPr/>
          <a:lstStyle/>
          <a:p>
            <a:fld id="{3DEB779A-7110-4DE2-B295-CAC04DA4647A}" type="slidenum">
              <a:rPr lang="en-IN" smtClean="0"/>
              <a:t>32</a:t>
            </a:fld>
            <a:endParaRPr lang="en-IN"/>
          </a:p>
        </p:txBody>
      </p:sp>
      <p:pic>
        <p:nvPicPr>
          <p:cNvPr id="8" name="Picture 7">
            <a:extLst>
              <a:ext uri="{FF2B5EF4-FFF2-40B4-BE49-F238E27FC236}">
                <a16:creationId xmlns:a16="http://schemas.microsoft.com/office/drawing/2014/main" id="{6D903517-81BF-1D15-0129-128BC4C2DBB7}"/>
              </a:ext>
            </a:extLst>
          </p:cNvPr>
          <p:cNvPicPr>
            <a:picLocks noChangeAspect="1"/>
          </p:cNvPicPr>
          <p:nvPr/>
        </p:nvPicPr>
        <p:blipFill>
          <a:blip r:embed="rId2"/>
          <a:stretch>
            <a:fillRect/>
          </a:stretch>
        </p:blipFill>
        <p:spPr>
          <a:xfrm>
            <a:off x="2167398" y="1118214"/>
            <a:ext cx="7857204" cy="5238136"/>
          </a:xfrm>
          <a:prstGeom prst="rect">
            <a:avLst/>
          </a:prstGeom>
        </p:spPr>
      </p:pic>
    </p:spTree>
    <p:extLst>
      <p:ext uri="{BB962C8B-B14F-4D97-AF65-F5344CB8AC3E}">
        <p14:creationId xmlns:p14="http://schemas.microsoft.com/office/powerpoint/2010/main" val="1728916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3034-A969-CA59-3A38-25B2BCA73F57}"/>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APPLICATIONS</a:t>
            </a:r>
          </a:p>
        </p:txBody>
      </p:sp>
      <p:sp>
        <p:nvSpPr>
          <p:cNvPr id="7" name="Slide Number Placeholder 6">
            <a:extLst>
              <a:ext uri="{FF2B5EF4-FFF2-40B4-BE49-F238E27FC236}">
                <a16:creationId xmlns:a16="http://schemas.microsoft.com/office/drawing/2014/main" id="{96E9CE80-24AE-A4AC-1351-98BDA2CBEC06}"/>
              </a:ext>
            </a:extLst>
          </p:cNvPr>
          <p:cNvSpPr>
            <a:spLocks noGrp="1"/>
          </p:cNvSpPr>
          <p:nvPr>
            <p:ph type="sldNum" sz="quarter" idx="12"/>
          </p:nvPr>
        </p:nvSpPr>
        <p:spPr/>
        <p:txBody>
          <a:bodyPr/>
          <a:lstStyle/>
          <a:p>
            <a:fld id="{3DEB779A-7110-4DE2-B295-CAC04DA4647A}" type="slidenum">
              <a:rPr lang="en-IN" smtClean="0"/>
              <a:t>33</a:t>
            </a:fld>
            <a:endParaRPr lang="en-IN"/>
          </a:p>
        </p:txBody>
      </p:sp>
      <p:sp>
        <p:nvSpPr>
          <p:cNvPr id="8" name="Rectangle 4">
            <a:extLst>
              <a:ext uri="{FF2B5EF4-FFF2-40B4-BE49-F238E27FC236}">
                <a16:creationId xmlns:a16="http://schemas.microsoft.com/office/drawing/2014/main" id="{8ACFB22E-0D6B-3C33-F1FE-3CF40473AD7D}"/>
              </a:ext>
            </a:extLst>
          </p:cNvPr>
          <p:cNvSpPr>
            <a:spLocks noChangeArrowheads="1"/>
          </p:cNvSpPr>
          <p:nvPr/>
        </p:nvSpPr>
        <p:spPr bwMode="auto">
          <a:xfrm>
            <a:off x="1527649" y="1690688"/>
            <a:ext cx="982615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Used by educational institutions to assess students’ technical skills and interview readiness.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Applied in placement cells for conducting mock interviews and screening candidates.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Used by training institutes to evaluate learner progress and skill proficiency.</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Applied in recruitment processes for preliminary technical screening of job applicants.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Used by students and job seekers for self-assessment and interview preparation.</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Helps faculty members and trainers reduce manual evaluation workload.</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Supports online assessment platforms for scalable and automated interview evaluations.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Can be integrated into corporate hiring systems for skill-based candidate assessment.</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9929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99569-5E34-D244-D971-DB20F2CF7E20}"/>
              </a:ext>
            </a:extLst>
          </p:cNvPr>
          <p:cNvSpPr>
            <a:spLocks noGrp="1"/>
          </p:cNvSpPr>
          <p:nvPr>
            <p:ph type="title"/>
          </p:nvPr>
        </p:nvSpPr>
        <p:spPr>
          <a:xfrm>
            <a:off x="838200" y="136525"/>
            <a:ext cx="10515600" cy="1325563"/>
          </a:xfrm>
        </p:spPr>
        <p:txBody>
          <a:bodyPr>
            <a:normAutofit/>
          </a:bodyPr>
          <a:lstStyle/>
          <a:p>
            <a:pPr algn="ctr"/>
            <a:r>
              <a:rPr lang="en-IN" sz="4000" u="sng" dirty="0">
                <a:latin typeface="Times New Roman" panose="02020603050405020304" pitchFamily="18" charset="0"/>
                <a:cs typeface="Times New Roman" panose="02020603050405020304" pitchFamily="18" charset="0"/>
              </a:rPr>
              <a:t>CONCLUSION</a:t>
            </a:r>
          </a:p>
        </p:txBody>
      </p:sp>
      <p:sp>
        <p:nvSpPr>
          <p:cNvPr id="5" name="Slide Number Placeholder 4">
            <a:extLst>
              <a:ext uri="{FF2B5EF4-FFF2-40B4-BE49-F238E27FC236}">
                <a16:creationId xmlns:a16="http://schemas.microsoft.com/office/drawing/2014/main" id="{92663698-32D1-16CE-1AB9-255C70FF6819}"/>
              </a:ext>
            </a:extLst>
          </p:cNvPr>
          <p:cNvSpPr>
            <a:spLocks noGrp="1"/>
          </p:cNvSpPr>
          <p:nvPr>
            <p:ph type="sldNum" sz="quarter" idx="12"/>
          </p:nvPr>
        </p:nvSpPr>
        <p:spPr/>
        <p:txBody>
          <a:bodyPr/>
          <a:lstStyle/>
          <a:p>
            <a:fld id="{3DEB779A-7110-4DE2-B295-CAC04DA4647A}" type="slidenum">
              <a:rPr lang="en-IN" smtClean="0"/>
              <a:t>34</a:t>
            </a:fld>
            <a:endParaRPr lang="en-IN"/>
          </a:p>
        </p:txBody>
      </p:sp>
      <p:sp>
        <p:nvSpPr>
          <p:cNvPr id="6" name="Rectangle 1">
            <a:extLst>
              <a:ext uri="{FF2B5EF4-FFF2-40B4-BE49-F238E27FC236}">
                <a16:creationId xmlns:a16="http://schemas.microsoft.com/office/drawing/2014/main" id="{F16D2489-40E9-88FA-D2DD-1671B395FFC2}"/>
              </a:ext>
            </a:extLst>
          </p:cNvPr>
          <p:cNvSpPr>
            <a:spLocks noGrp="1" noChangeArrowheads="1"/>
          </p:cNvSpPr>
          <p:nvPr>
            <p:ph idx="1"/>
          </p:nvPr>
        </p:nvSpPr>
        <p:spPr bwMode="auto">
          <a:xfrm>
            <a:off x="371788" y="1278037"/>
            <a:ext cx="1161589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SkillGauge AI successfully automates the interview assessment process using Generative Artificial Intelligence and structured evaluation techniques.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system provides reliable and unbiased assessment by combining AI-driven question generation with a fallback question bank.</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Automated evaluation, report generation, and email communication enhance efficiency and transparency in the assessment process.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Visual performance analytics help candidates clearly understand their strengths and areas for improvement.</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admin dashboard enables effective monitoring, record maintenance, and performance analysis.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proposed system reduces manual effort, saves time, and improves scalability compared to traditional interview methods.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Overall, SkillGauge AI serves as an effective and intelligent solution for modern interview assessment in educational and recruitment environments.</a:t>
            </a:r>
          </a:p>
        </p:txBody>
      </p:sp>
    </p:spTree>
    <p:extLst>
      <p:ext uri="{BB962C8B-B14F-4D97-AF65-F5344CB8AC3E}">
        <p14:creationId xmlns:p14="http://schemas.microsoft.com/office/powerpoint/2010/main" val="2869642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16A6-A7B7-C66C-08F3-9A00BA59D8B7}"/>
              </a:ext>
            </a:extLst>
          </p:cNvPr>
          <p:cNvSpPr>
            <a:spLocks noGrp="1"/>
          </p:cNvSpPr>
          <p:nvPr>
            <p:ph type="title"/>
          </p:nvPr>
        </p:nvSpPr>
        <p:spPr/>
        <p:txBody>
          <a:bodyPr>
            <a:normAutofit/>
          </a:bodyPr>
          <a:lstStyle/>
          <a:p>
            <a:pPr algn="ctr"/>
            <a:r>
              <a:rPr lang="en-IN" sz="4000" u="sng" dirty="0">
                <a:latin typeface="Times New Roman" panose="02020603050405020304" pitchFamily="18" charset="0"/>
                <a:cs typeface="Times New Roman" panose="02020603050405020304" pitchFamily="18" charset="0"/>
              </a:rPr>
              <a:t>FUTURE ENHANCEMENT</a:t>
            </a:r>
          </a:p>
        </p:txBody>
      </p:sp>
      <p:sp>
        <p:nvSpPr>
          <p:cNvPr id="5" name="Slide Number Placeholder 4">
            <a:extLst>
              <a:ext uri="{FF2B5EF4-FFF2-40B4-BE49-F238E27FC236}">
                <a16:creationId xmlns:a16="http://schemas.microsoft.com/office/drawing/2014/main" id="{3AFA93DC-2DA1-0F79-AC47-C7C70F02405C}"/>
              </a:ext>
            </a:extLst>
          </p:cNvPr>
          <p:cNvSpPr>
            <a:spLocks noGrp="1"/>
          </p:cNvSpPr>
          <p:nvPr>
            <p:ph type="sldNum" sz="quarter" idx="12"/>
          </p:nvPr>
        </p:nvSpPr>
        <p:spPr/>
        <p:txBody>
          <a:bodyPr/>
          <a:lstStyle/>
          <a:p>
            <a:fld id="{3DEB779A-7110-4DE2-B295-CAC04DA4647A}" type="slidenum">
              <a:rPr lang="en-IN" smtClean="0"/>
              <a:t>35</a:t>
            </a:fld>
            <a:endParaRPr lang="en-IN"/>
          </a:p>
        </p:txBody>
      </p:sp>
      <p:sp>
        <p:nvSpPr>
          <p:cNvPr id="7" name="Rectangle 2">
            <a:extLst>
              <a:ext uri="{FF2B5EF4-FFF2-40B4-BE49-F238E27FC236}">
                <a16:creationId xmlns:a16="http://schemas.microsoft.com/office/drawing/2014/main" id="{14A38DBE-020F-4B49-EA6E-C04F268BBEA3}"/>
              </a:ext>
            </a:extLst>
          </p:cNvPr>
          <p:cNvSpPr>
            <a:spLocks noGrp="1" noChangeArrowheads="1"/>
          </p:cNvSpPr>
          <p:nvPr>
            <p:ph idx="1"/>
          </p:nvPr>
        </p:nvSpPr>
        <p:spPr bwMode="auto">
          <a:xfrm>
            <a:off x="770374" y="1819851"/>
            <a:ext cx="1072601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Integration of video-based and voice-based interviews for advanced candidate assessment.</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Use of sentiment analysis and emotion recognition to evaluate communication and confidence levels.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Expansion of question types to include descriptive, coding, and scenario-based questions.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Integration with cloud databases for scalable and secure data storage.</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Development of role-specific and difficulty-level adaptive assessments.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Incorporation of real-time feedback and personalized learning recommendations.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Enhancement of AI models to support multi-language interview assessments.</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9430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919D-AC8C-911D-22BB-B06120890CFC}"/>
              </a:ext>
            </a:extLst>
          </p:cNvPr>
          <p:cNvSpPr>
            <a:spLocks noGrp="1"/>
          </p:cNvSpPr>
          <p:nvPr>
            <p:ph type="title"/>
          </p:nvPr>
        </p:nvSpPr>
        <p:spPr/>
        <p:txBody>
          <a:bodyPr/>
          <a:lstStyle/>
          <a:p>
            <a:pPr algn="ctr"/>
            <a:r>
              <a:rPr lang="en-IN" u="sng" dirty="0">
                <a:solidFill>
                  <a:prstClr val="black"/>
                </a:solidFill>
                <a:latin typeface="Times New Roman" panose="02020603050405020304" pitchFamily="18" charset="0"/>
                <a:cs typeface="Times New Roman" panose="02020603050405020304" pitchFamily="18" charset="0"/>
              </a:rPr>
              <a:t>REFERENCES</a:t>
            </a:r>
            <a:endParaRPr lang="en-IN" dirty="0"/>
          </a:p>
        </p:txBody>
      </p:sp>
      <p:sp>
        <p:nvSpPr>
          <p:cNvPr id="5" name="Slide Number Placeholder 4">
            <a:extLst>
              <a:ext uri="{FF2B5EF4-FFF2-40B4-BE49-F238E27FC236}">
                <a16:creationId xmlns:a16="http://schemas.microsoft.com/office/drawing/2014/main" id="{19A55AE4-54D8-5538-A647-0DD71345406A}"/>
              </a:ext>
            </a:extLst>
          </p:cNvPr>
          <p:cNvSpPr>
            <a:spLocks noGrp="1"/>
          </p:cNvSpPr>
          <p:nvPr>
            <p:ph type="sldNum" sz="quarter" idx="12"/>
          </p:nvPr>
        </p:nvSpPr>
        <p:spPr/>
        <p:txBody>
          <a:bodyPr/>
          <a:lstStyle/>
          <a:p>
            <a:fld id="{3DEB779A-7110-4DE2-B295-CAC04DA4647A}" type="slidenum">
              <a:rPr lang="en-IN" smtClean="0"/>
              <a:t>36</a:t>
            </a:fld>
            <a:endParaRPr lang="en-IN"/>
          </a:p>
        </p:txBody>
      </p:sp>
      <p:sp>
        <p:nvSpPr>
          <p:cNvPr id="13" name="TextBox 12">
            <a:extLst>
              <a:ext uri="{FF2B5EF4-FFF2-40B4-BE49-F238E27FC236}">
                <a16:creationId xmlns:a16="http://schemas.microsoft.com/office/drawing/2014/main" id="{E0ED483E-57E2-9DE2-7E9F-24127BFB48A8}"/>
              </a:ext>
            </a:extLst>
          </p:cNvPr>
          <p:cNvSpPr txBox="1"/>
          <p:nvPr/>
        </p:nvSpPr>
        <p:spPr>
          <a:xfrm>
            <a:off x="838200" y="1690688"/>
            <a:ext cx="10434320" cy="4524315"/>
          </a:xfrm>
          <a:prstGeom prst="rect">
            <a:avLst/>
          </a:prstGeom>
          <a:noFill/>
        </p:spPr>
        <p:txBody>
          <a:bodyPr wrap="square">
            <a:spAutoFit/>
          </a:bodyPr>
          <a:lstStyle/>
          <a:p>
            <a:pPr marL="285750" indent="-285750">
              <a:buFont typeface="Arial" panose="020B0604020202020204" pitchFamily="34" charset="0"/>
              <a:buChar char="•"/>
            </a:pPr>
            <a:r>
              <a:rPr lang="en-IN" b="1" dirty="0">
                <a:latin typeface="Calibri (Body)"/>
              </a:rPr>
              <a:t>S. Maity, A. Deroy (2024),</a:t>
            </a:r>
            <a:r>
              <a:rPr lang="en-IN" dirty="0">
                <a:latin typeface="Calibri (Body)"/>
              </a:rPr>
              <a:t> “The Future of Learning in the Age of Generative AI: Automated Question Generation and Assessment with Large Language Models”, </a:t>
            </a:r>
            <a:r>
              <a:rPr lang="en-IN" i="1" dirty="0" err="1">
                <a:latin typeface="Calibri (Body)"/>
              </a:rPr>
              <a:t>arXiv</a:t>
            </a:r>
            <a:r>
              <a:rPr lang="en-IN" i="1" dirty="0">
                <a:latin typeface="Calibri (Body)"/>
              </a:rPr>
              <a:t> Preprint</a:t>
            </a:r>
            <a:r>
              <a:rPr lang="en-IN" dirty="0">
                <a:latin typeface="Calibri (Body)"/>
              </a:rPr>
              <a:t>, PP. 1–15.</a:t>
            </a:r>
          </a:p>
          <a:p>
            <a:pPr marL="285750" indent="-285750">
              <a:buFont typeface="Arial" panose="020B0604020202020204" pitchFamily="34" charset="0"/>
              <a:buChar char="•"/>
            </a:pPr>
            <a:endParaRPr lang="en-IN" dirty="0">
              <a:latin typeface="Calibri (Body)"/>
            </a:endParaRPr>
          </a:p>
          <a:p>
            <a:pPr marL="285750" indent="-285750">
              <a:buFont typeface="Arial" panose="020B0604020202020204" pitchFamily="34" charset="0"/>
              <a:buChar char="•"/>
            </a:pPr>
            <a:r>
              <a:rPr lang="en-IN" b="1" dirty="0">
                <a:latin typeface="Calibri (Body)"/>
              </a:rPr>
              <a:t>U. Mittal, S. Sai, V. </a:t>
            </a:r>
            <a:r>
              <a:rPr lang="en-IN" b="1" dirty="0" err="1">
                <a:latin typeface="Calibri (Body)"/>
              </a:rPr>
              <a:t>Chamola</a:t>
            </a:r>
            <a:r>
              <a:rPr lang="en-IN" b="1" dirty="0">
                <a:latin typeface="Calibri (Body)"/>
              </a:rPr>
              <a:t>, D. Sangwan (2024),</a:t>
            </a:r>
            <a:r>
              <a:rPr lang="en-IN" dirty="0">
                <a:latin typeface="Calibri (Body)"/>
              </a:rPr>
              <a:t> “A Comprehensive Review on Generative AI for Education”, </a:t>
            </a:r>
            <a:r>
              <a:rPr lang="en-IN" i="1" dirty="0">
                <a:latin typeface="Calibri (Body)"/>
              </a:rPr>
              <a:t>IEEE Access</a:t>
            </a:r>
            <a:r>
              <a:rPr lang="en-IN" dirty="0">
                <a:latin typeface="Calibri (Body)"/>
              </a:rPr>
              <a:t>, Vol. 12, PP. 34567–34589.</a:t>
            </a:r>
          </a:p>
          <a:p>
            <a:pPr marL="285750" indent="-285750">
              <a:buFont typeface="Arial" panose="020B0604020202020204" pitchFamily="34" charset="0"/>
              <a:buChar char="•"/>
            </a:pPr>
            <a:endParaRPr lang="en-IN" dirty="0">
              <a:latin typeface="Calibri (Body)"/>
            </a:endParaRPr>
          </a:p>
          <a:p>
            <a:pPr marL="285750" indent="-285750">
              <a:buFont typeface="Arial" panose="020B0604020202020204" pitchFamily="34" charset="0"/>
              <a:buChar char="•"/>
            </a:pPr>
            <a:r>
              <a:rPr lang="en-IN" b="1" dirty="0">
                <a:latin typeface="Calibri (Body)"/>
              </a:rPr>
              <a:t>J. Álvarez Ariza, M. Benitez Restrepo, C. Hernández </a:t>
            </a:r>
            <a:r>
              <a:rPr lang="en-IN" b="1" dirty="0" err="1">
                <a:latin typeface="Calibri (Body)"/>
              </a:rPr>
              <a:t>Hernández</a:t>
            </a:r>
            <a:r>
              <a:rPr lang="en-IN" b="1" dirty="0">
                <a:latin typeface="Calibri (Body)"/>
              </a:rPr>
              <a:t> (2025),</a:t>
            </a:r>
            <a:r>
              <a:rPr lang="en-IN" dirty="0">
                <a:latin typeface="Calibri (Body)"/>
              </a:rPr>
              <a:t> “Generative AI in Engineering and Computing Education: A Scoping Review of Empirical Studies and Educational Practices”, </a:t>
            </a:r>
            <a:r>
              <a:rPr lang="en-IN" i="1" dirty="0">
                <a:latin typeface="Calibri (Body)"/>
              </a:rPr>
              <a:t>IEEE Access</a:t>
            </a:r>
            <a:r>
              <a:rPr lang="en-IN" dirty="0">
                <a:latin typeface="Calibri (Body)"/>
              </a:rPr>
              <a:t>, Vol. 13, PP. 11234–11258.</a:t>
            </a:r>
          </a:p>
          <a:p>
            <a:pPr marL="285750" indent="-285750">
              <a:buFont typeface="Arial" panose="020B0604020202020204" pitchFamily="34" charset="0"/>
              <a:buChar char="•"/>
            </a:pPr>
            <a:endParaRPr lang="en-IN" dirty="0">
              <a:latin typeface="Calibri (Body)"/>
            </a:endParaRPr>
          </a:p>
          <a:p>
            <a:pPr marL="285750" indent="-285750">
              <a:buFont typeface="Arial" panose="020B0604020202020204" pitchFamily="34" charset="0"/>
              <a:buChar char="•"/>
            </a:pPr>
            <a:r>
              <a:rPr lang="en-IN" b="1" dirty="0">
                <a:latin typeface="Calibri (Body)"/>
              </a:rPr>
              <a:t>S. Sharma, P. Mittal, M. Kumar, V. Bhardwaj (2025),</a:t>
            </a:r>
            <a:r>
              <a:rPr lang="en-IN" dirty="0">
                <a:latin typeface="Calibri (Body)"/>
              </a:rPr>
              <a:t> “The Role of Large Language Models in Personalized Learning”, </a:t>
            </a:r>
            <a:r>
              <a:rPr lang="en-IN" i="1" dirty="0">
                <a:latin typeface="Calibri (Body)"/>
              </a:rPr>
              <a:t>Education and Information Technologies</a:t>
            </a:r>
            <a:r>
              <a:rPr lang="en-IN" dirty="0">
                <a:latin typeface="Calibri (Body)"/>
              </a:rPr>
              <a:t>, Springer, PP. 1–20.</a:t>
            </a:r>
          </a:p>
          <a:p>
            <a:pPr marL="285750" indent="-285750">
              <a:buFont typeface="Arial" panose="020B0604020202020204" pitchFamily="34" charset="0"/>
              <a:buChar char="•"/>
            </a:pPr>
            <a:endParaRPr lang="en-IN" dirty="0">
              <a:latin typeface="Calibri (Body)"/>
            </a:endParaRPr>
          </a:p>
          <a:p>
            <a:pPr marL="285750" indent="-285750">
              <a:buFont typeface="Arial" panose="020B0604020202020204" pitchFamily="34" charset="0"/>
              <a:buChar char="•"/>
            </a:pPr>
            <a:r>
              <a:rPr lang="en-IN" b="1" dirty="0">
                <a:latin typeface="Calibri (Body)"/>
              </a:rPr>
              <a:t>E. Frankford, C. Sauerwein, P. </a:t>
            </a:r>
            <a:r>
              <a:rPr lang="en-IN" b="1" dirty="0" err="1">
                <a:latin typeface="Calibri (Body)"/>
              </a:rPr>
              <a:t>Bassner</a:t>
            </a:r>
            <a:r>
              <a:rPr lang="en-IN" b="1" dirty="0">
                <a:latin typeface="Calibri (Body)"/>
              </a:rPr>
              <a:t>, S. </a:t>
            </a:r>
            <a:r>
              <a:rPr lang="en-IN" b="1" dirty="0" err="1">
                <a:latin typeface="Calibri (Body)"/>
              </a:rPr>
              <a:t>Krusche</a:t>
            </a:r>
            <a:r>
              <a:rPr lang="en-IN" b="1" dirty="0">
                <a:latin typeface="Calibri (Body)"/>
              </a:rPr>
              <a:t>, R. Breu (2024),</a:t>
            </a:r>
            <a:r>
              <a:rPr lang="en-IN" dirty="0">
                <a:latin typeface="Calibri (Body)"/>
              </a:rPr>
              <a:t> “AI Tutoring in Software Engineering Education: Experiences with Large Language Models”, </a:t>
            </a:r>
            <a:r>
              <a:rPr lang="en-IN" i="1" dirty="0">
                <a:latin typeface="Calibri (Body)"/>
              </a:rPr>
              <a:t>Proceedings of the IEEE/ACM International Conference on Software Engineering</a:t>
            </a:r>
            <a:r>
              <a:rPr lang="en-IN" dirty="0">
                <a:latin typeface="Calibri (Body)"/>
              </a:rPr>
              <a:t>, PP. 1–10.</a:t>
            </a:r>
          </a:p>
        </p:txBody>
      </p:sp>
    </p:spTree>
    <p:extLst>
      <p:ext uri="{BB962C8B-B14F-4D97-AF65-F5344CB8AC3E}">
        <p14:creationId xmlns:p14="http://schemas.microsoft.com/office/powerpoint/2010/main" val="1722141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C6C5-57CE-4E19-160A-E033AAF3D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20396-A79A-AF87-4801-6A733CC60615}"/>
              </a:ext>
            </a:extLst>
          </p:cNvPr>
          <p:cNvSpPr>
            <a:spLocks noGrp="1"/>
          </p:cNvSpPr>
          <p:nvPr>
            <p:ph type="title"/>
          </p:nvPr>
        </p:nvSpPr>
        <p:spPr/>
        <p:txBody>
          <a:bodyPr/>
          <a:lstStyle/>
          <a:p>
            <a:pPr algn="ctr"/>
            <a:r>
              <a:rPr lang="en-IN" u="sng" dirty="0">
                <a:solidFill>
                  <a:prstClr val="black"/>
                </a:solidFill>
                <a:latin typeface="Times New Roman" panose="02020603050405020304" pitchFamily="18" charset="0"/>
                <a:cs typeface="Times New Roman" panose="02020603050405020304" pitchFamily="18" charset="0"/>
              </a:rPr>
              <a:t>REFERENCES</a:t>
            </a:r>
            <a:endParaRPr lang="en-IN" dirty="0"/>
          </a:p>
        </p:txBody>
      </p:sp>
      <p:sp>
        <p:nvSpPr>
          <p:cNvPr id="5" name="Slide Number Placeholder 4">
            <a:extLst>
              <a:ext uri="{FF2B5EF4-FFF2-40B4-BE49-F238E27FC236}">
                <a16:creationId xmlns:a16="http://schemas.microsoft.com/office/drawing/2014/main" id="{3DA365BA-B2E9-2C2B-1FB2-EB995CBB81C4}"/>
              </a:ext>
            </a:extLst>
          </p:cNvPr>
          <p:cNvSpPr>
            <a:spLocks noGrp="1"/>
          </p:cNvSpPr>
          <p:nvPr>
            <p:ph type="sldNum" sz="quarter" idx="12"/>
          </p:nvPr>
        </p:nvSpPr>
        <p:spPr/>
        <p:txBody>
          <a:bodyPr/>
          <a:lstStyle/>
          <a:p>
            <a:fld id="{3DEB779A-7110-4DE2-B295-CAC04DA4647A}" type="slidenum">
              <a:rPr lang="en-IN" smtClean="0"/>
              <a:t>37</a:t>
            </a:fld>
            <a:endParaRPr lang="en-IN" dirty="0"/>
          </a:p>
        </p:txBody>
      </p:sp>
      <p:sp>
        <p:nvSpPr>
          <p:cNvPr id="13" name="TextBox 12">
            <a:extLst>
              <a:ext uri="{FF2B5EF4-FFF2-40B4-BE49-F238E27FC236}">
                <a16:creationId xmlns:a16="http://schemas.microsoft.com/office/drawing/2014/main" id="{D0E95A73-1A64-942A-F836-B2603EB8A1EB}"/>
              </a:ext>
            </a:extLst>
          </p:cNvPr>
          <p:cNvSpPr txBox="1"/>
          <p:nvPr/>
        </p:nvSpPr>
        <p:spPr>
          <a:xfrm>
            <a:off x="838200" y="1690688"/>
            <a:ext cx="10434320" cy="3970318"/>
          </a:xfrm>
          <a:prstGeom prst="rect">
            <a:avLst/>
          </a:prstGeom>
          <a:noFill/>
        </p:spPr>
        <p:txBody>
          <a:bodyPr wrap="square">
            <a:spAutoFit/>
          </a:bodyPr>
          <a:lstStyle/>
          <a:p>
            <a:pPr marL="285750" indent="-285750">
              <a:buFont typeface="Arial" panose="020B0604020202020204" pitchFamily="34" charset="0"/>
              <a:buChar char="•"/>
            </a:pPr>
            <a:r>
              <a:rPr lang="en-IN" dirty="0"/>
              <a:t>I. Naim, M. I. Tanveer, D. Gildea, M. E. Hoque (2018), “Automated Analysis and Prediction of Job Interview Performance”, IEEE Transactions on Affective Computing, Vol. 9, No. 2, PP. 191–204.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 S. Y. Tun, H. Li, M. Wu (2023), “Multimodal Transfer Learning for Oral Presentation Assessment”, IEEE Access, Vol. 11, PP. 88921–88934.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J. </a:t>
            </a:r>
            <a:r>
              <a:rPr lang="en-IN" dirty="0" err="1"/>
              <a:t>Barambones</a:t>
            </a:r>
            <a:r>
              <a:rPr lang="en-IN" dirty="0"/>
              <a:t>, A. Fernández, L. Otaegui (2024), “ChatGPT for Learning HCI Techniques: A Case Study on Interviews”, IEEE Transactions on Learning Technologies, Vol. 17, No. 1, PP. 45–58.</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 Putra, R. Kurniawan, M. H. Habaebi (2024), “Fair Automated Video Interview Assessment Using Deep Learning Models”, IEEE Access, Vol. 12, PP. 56789–56804.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P. Chavan, S. Jadhav (2026), “AI-Based Mock Interview and Evaluation System”, International Journal of Scientific Research in Science, Engineering and Technology (IJSRSET), Vol. 12, No. 1, PP. 101–110.</a:t>
            </a:r>
          </a:p>
        </p:txBody>
      </p:sp>
    </p:spTree>
    <p:extLst>
      <p:ext uri="{BB962C8B-B14F-4D97-AF65-F5344CB8AC3E}">
        <p14:creationId xmlns:p14="http://schemas.microsoft.com/office/powerpoint/2010/main" val="4153292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D169-2141-EAAB-DF08-44314DA874E6}"/>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THANK YOU</a:t>
            </a:r>
          </a:p>
        </p:txBody>
      </p:sp>
      <p:sp>
        <p:nvSpPr>
          <p:cNvPr id="4" name="Slide Number Placeholder 3">
            <a:extLst>
              <a:ext uri="{FF2B5EF4-FFF2-40B4-BE49-F238E27FC236}">
                <a16:creationId xmlns:a16="http://schemas.microsoft.com/office/drawing/2014/main" id="{D26B1DDB-FE0E-5B63-1E67-4B3545935419}"/>
              </a:ext>
            </a:extLst>
          </p:cNvPr>
          <p:cNvSpPr>
            <a:spLocks noGrp="1"/>
          </p:cNvSpPr>
          <p:nvPr>
            <p:ph type="sldNum" sz="quarter" idx="12"/>
          </p:nvPr>
        </p:nvSpPr>
        <p:spPr/>
        <p:txBody>
          <a:bodyPr/>
          <a:lstStyle/>
          <a:p>
            <a:fld id="{3DEB779A-7110-4DE2-B295-CAC04DA4647A}" type="slidenum">
              <a:rPr lang="en-IN" smtClean="0"/>
              <a:t>38</a:t>
            </a:fld>
            <a:endParaRPr lang="en-IN"/>
          </a:p>
        </p:txBody>
      </p:sp>
    </p:spTree>
    <p:extLst>
      <p:ext uri="{BB962C8B-B14F-4D97-AF65-F5344CB8AC3E}">
        <p14:creationId xmlns:p14="http://schemas.microsoft.com/office/powerpoint/2010/main" val="1815049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1844</TotalTime>
  <Words>4101</Words>
  <Application>Microsoft Office PowerPoint</Application>
  <PresentationFormat>Widescreen</PresentationFormat>
  <Paragraphs>473</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(Body)</vt:lpstr>
      <vt:lpstr>Calibri Light</vt:lpstr>
      <vt:lpstr>Times New Roman</vt:lpstr>
      <vt:lpstr>Office Theme</vt:lpstr>
      <vt:lpstr>PROJECT TITLE: SkillGauge AI: An Intelligent Interview Assessment System with AI-Driven and Fallback Question Generation        </vt:lpstr>
      <vt:lpstr>SDG GOALS</vt:lpstr>
      <vt:lpstr>ABSTRACT</vt:lpstr>
      <vt:lpstr>INTRODUCTION</vt:lpstr>
      <vt:lpstr>OBJECTIVE</vt:lpstr>
      <vt:lpstr>PROBLEM STATEMENT</vt:lpstr>
      <vt:lpstr>LITERATURE REVIEW</vt:lpstr>
      <vt:lpstr>LITERATURE REVIEW</vt:lpstr>
      <vt:lpstr>EXISTING SYSTEM</vt:lpstr>
      <vt:lpstr>PROPOSED SYSTEM</vt:lpstr>
      <vt:lpstr>PowerPoint Presentation</vt:lpstr>
      <vt:lpstr>SOFTWARE REQUIREMENTS</vt:lpstr>
      <vt:lpstr>TECHNIQUES USED</vt:lpstr>
      <vt:lpstr>FUNCTIONAL MODULES</vt:lpstr>
      <vt:lpstr>SYSTEM IMPLEMENTATION</vt:lpstr>
      <vt:lpstr>SAMPLE CODE</vt:lpstr>
      <vt:lpstr>SAMPLE CODE</vt:lpstr>
      <vt:lpstr> SAMPLE CODE</vt:lpstr>
      <vt:lpstr> SAMPLE CODE</vt:lpstr>
      <vt:lpstr> SAMPLE CODE</vt:lpstr>
      <vt:lpstr> SAMPLE CODE</vt:lpstr>
      <vt:lpstr>OUTPUT</vt:lpstr>
      <vt:lpstr>OUTPUT</vt:lpstr>
      <vt:lpstr>OUTPUT</vt:lpstr>
      <vt:lpstr>OUTPUT</vt:lpstr>
      <vt:lpstr>OUTPUT</vt:lpstr>
      <vt:lpstr>OUTPUT</vt:lpstr>
      <vt:lpstr>OUTPUT</vt:lpstr>
      <vt:lpstr>OUTPUT</vt:lpstr>
      <vt:lpstr>OUTPUT</vt:lpstr>
      <vt:lpstr>BENEFITS</vt:lpstr>
      <vt:lpstr>COLLABORATIVE DIAGRAM</vt:lpstr>
      <vt:lpstr>APPLICATIONS</vt:lpstr>
      <vt:lpstr>CONCLUSION</vt:lpstr>
      <vt:lpstr>FUTURE ENHANCEMENT</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Vedavarshini Karthikeyan</dc:creator>
  <cp:lastModifiedBy>protohub.exec@gmail.com</cp:lastModifiedBy>
  <cp:revision>57</cp:revision>
  <dcterms:created xsi:type="dcterms:W3CDTF">2024-08-25T04:10:27Z</dcterms:created>
  <dcterms:modified xsi:type="dcterms:W3CDTF">2026-02-01T07:14:09Z</dcterms:modified>
</cp:coreProperties>
</file>